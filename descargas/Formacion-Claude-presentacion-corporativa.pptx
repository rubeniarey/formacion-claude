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f0ed80dc-6a91-4448-54c4-fc8a8c8663e6}">
          <p14:sldIdLst>
            <p14:sldId id="256"/>
          </p14:sldIdLst>
        </p14:section>
        <p14:section name="01 · Inicio" id="{fdc0ff66-7337-3683-e3f4-c851b78bca46}">
          <p14:sldIdLst>
            <p14:sldId id="257"/>
            <p14:sldId id="258"/>
            <p14:sldId id="259"/>
          </p14:sldIdLst>
        </p14:section>
        <p14:section name="02 · El mapa" id="{92110b2b-30e7-3781-0461-04915937f9b0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03 · Modelos" id="{ece3f6eb-371d-2319-ea29-07864254ed25}">
          <p14:sldIdLst>
            <p14:sldId id="266"/>
            <p14:sldId id="267"/>
            <p14:sldId id="268"/>
            <p14:sldId id="269"/>
          </p14:sldIdLst>
        </p14:section>
        <p14:section name="04 · Pedir bien" id="{e3f170d3-f3a3-8daa-1bae-96dab5c0146c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05 · Conectar" id="{114b7cbb-9ae6-f05b-c0a4-a2c8804bbb95}">
          <p14:sldIdLst>
            <p14:sldId id="276"/>
            <p14:sldId id="277"/>
            <p14:sldId id="278"/>
            <p14:sldId id="279"/>
          </p14:sldIdLst>
        </p14:section>
        <p14:section name="06 · Skills" id="{af2e77b9-2731-86d8-6ee0-24302e95eb1b}">
          <p14:sldIdLst>
            <p14:sldId id="280"/>
            <p14:sldId id="281"/>
            <p14:sldId id="282"/>
            <p14:sldId id="283"/>
          </p14:sldIdLst>
        </p14:section>
        <p14:section name="07 · Correo y docs" id="{bf238e93-12e1-c1ba-7d16-23d5a57db920}">
          <p14:sldIdLst>
            <p14:sldId id="284"/>
            <p14:sldId id="285"/>
            <p14:sldId id="286"/>
          </p14:sldIdLst>
        </p14:section>
        <p14:section name="08 · Claude Code" id="{6d557f52-44f9-1f0e-0c7f-c16114181683}">
          <p14:sldIdLst>
            <p14:sldId id="287"/>
            <p14:sldId id="288"/>
            <p14:sldId id="289"/>
            <p14:sldId id="290"/>
          </p14:sldIdLst>
        </p14:section>
        <p14:section name="09 · Datos" id="{0b04a2e0-ebec-7d77-7f43-827c08e2c1d0}">
          <p14:sldIdLst>
            <p14:sldId id="291"/>
            <p14:sldId id="292"/>
            <p14:sldId id="293"/>
          </p14:sldIdLst>
        </p14:section>
        <p14:section name="10 · Construir" id="{9a005873-4385-25e5-76db-7305cf81c211}">
          <p14:sldIdLst>
            <p14:sldId id="294"/>
            <p14:sldId id="295"/>
            <p14:sldId id="296"/>
            <p14:sldId id="297"/>
            <p14:sldId id="298"/>
          </p14:sldIdLst>
        </p14:section>
        <p14:section name="11 · Seguridad" id="{f2310f27-b58e-9b15-2c0c-275ea47f3b07}">
          <p14:sldIdLst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Cierre" id="{22aa32f1-fa02-87a8-1254-0fd1c7ee1b43}">
          <p14:sldIdLst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Formación Claude · Reynasa × Aurgi × Grupo Mutua · 20/10/2026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Formación Claude · Reynasa × Aurgi × Grupo Mutua · 20/10/2026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7200" b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7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Formación Claude · Reynasa × Aurgi × Grupo Mutua · 20/10/2026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hyperlink" Target="https://rubeniarey.github.io/formacion-claude/" TargetMode="External"/><Relationship Id="rId2" Type="http://schemas.openxmlformats.org/officeDocument/2006/relationships/image" Target="../media/image-50-1.png"/><Relationship Id="rId3" Type="http://schemas.openxmlformats.org/officeDocument/2006/relationships/image" Target="../media/image-50-2.png"/><Relationship Id="rId4" Type="http://schemas.openxmlformats.org/officeDocument/2006/relationships/image" Target="../media/image-50-3.png"/><Relationship Id="rId5" Type="http://schemas.openxmlformats.org/officeDocument/2006/relationships/image" Target="../media/image-50-4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rtada-foto" descr="Portátil con los logos de Reynasa, Aurgi, Mutua y Clau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o-1"/>
          <p:cNvSpPr txBox="1"/>
          <p:nvPr/>
        </p:nvSpPr>
        <p:spPr>
          <a:xfrm>
            <a:off x="685800" y="1051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FORMACIÓN CLAUDE · GRUPO MUTUA · 20 DE OCTUBRE DE 2026</a:t>
            </a:r>
            <a:endParaRPr lang="en-US" sz="1200" dirty="0"/>
          </a:p>
        </p:txBody>
      </p:sp>
      <p:sp>
        <p:nvSpPr>
          <p:cNvPr id="4" name="texto-2"/>
          <p:cNvSpPr txBox="1"/>
          <p:nvPr/>
        </p:nvSpPr>
        <p:spPr>
          <a:xfrm>
            <a:off x="685800" y="146304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Claude no es otro chat. Es una </a:t>
            </a:r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chemeClr val="accent1"/>
                </a:solidFill>
              </a:rPr>
              <a:t>plantilla de doctorandos</a:t>
            </a:r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 trabajando para ti</a:t>
            </a:r>
            <a:endParaRPr lang="en-US" sz="4200" dirty="0"/>
          </a:p>
        </p:txBody>
      </p:sp>
      <p:sp>
        <p:nvSpPr>
          <p:cNvPr id="5" name="texto-3"/>
          <p:cNvSpPr txBox="1"/>
          <p:nvPr/>
        </p:nvSpPr>
        <p:spPr>
          <a:xfrm>
            <a:off x="685800" y="41605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Lo que vimos en la formación de Diego Renedo (Aurgi) y Rubén López (Reynasa): las piezas, los prompts reales y cómo empezar mañana.</a:t>
            </a:r>
            <a:endParaRPr lang="en-US" sz="1600" dirty="0"/>
          </a:p>
        </p:txBody>
      </p:sp>
      <p:sp>
        <p:nvSpPr>
          <p:cNvPr id="6" name="caja-4"/>
          <p:cNvSpPr/>
          <p:nvPr/>
        </p:nvSpPr>
        <p:spPr>
          <a:xfrm>
            <a:off x="685800" y="5257800"/>
            <a:ext cx="562356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DDE0E5"/>
            </a:solidFill>
            <a:prstDash val="solid"/>
          </a:ln>
        </p:spPr>
      </p:sp>
      <p:sp>
        <p:nvSpPr>
          <p:cNvPr id="7" name="texto-5"/>
          <p:cNvSpPr txBox="1"/>
          <p:nvPr/>
        </p:nvSpPr>
        <p:spPr>
          <a:xfrm>
            <a:off x="914400" y="53583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Impartida por Aurgi y Reynasa · para Grupo Mutua · sobre Claude</a:t>
            </a:r>
            <a:endParaRPr lang="en-US" sz="1050" dirty="0"/>
          </a:p>
        </p:txBody>
      </p:sp>
      <p:pic>
        <p:nvPicPr>
          <p:cNvPr id="8" name="logo-aurgi" descr="aurg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742432"/>
            <a:ext cx="836141" cy="265176"/>
          </a:xfrm>
          <a:prstGeom prst="rect">
            <a:avLst/>
          </a:prstGeom>
        </p:spPr>
      </p:pic>
      <p:pic>
        <p:nvPicPr>
          <p:cNvPr id="9" name="logo-reynasa" descr="reynas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861" y="5733288"/>
            <a:ext cx="1138918" cy="283464"/>
          </a:xfrm>
          <a:prstGeom prst="rect">
            <a:avLst/>
          </a:prstGeom>
        </p:spPr>
      </p:pic>
      <p:pic>
        <p:nvPicPr>
          <p:cNvPr id="10" name="logo-mutua" descr="mutu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098" y="5774436"/>
            <a:ext cx="1223319" cy="201168"/>
          </a:xfrm>
          <a:prstGeom prst="rect">
            <a:avLst/>
          </a:prstGeom>
        </p:spPr>
      </p:pic>
      <p:pic>
        <p:nvPicPr>
          <p:cNvPr id="11" name="logo-claude" descr="clau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5737" y="5742432"/>
            <a:ext cx="1213224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INICIO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 un minuto</a:t>
            </a:r>
            <a:endParaRPr lang="en-US" sz="3200" dirty="0"/>
          </a:p>
        </p:txBody>
      </p:sp>
      <p:sp>
        <p:nvSpPr>
          <p:cNvPr id="4" name="texto-6"/>
          <p:cNvSpPr txBox="1"/>
          <p:nvPr/>
        </p:nvSpPr>
        <p:spPr>
          <a:xfrm>
            <a:off x="548640" y="15361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Tres horas para ver qué hace Claude hoy, en la empresa real: conectado a tu correo, a tus datos y a tu navegador, y haciendo software propio sin saber programar.</a:t>
            </a:r>
            <a:endParaRPr lang="en-US" sz="1800" dirty="0"/>
          </a:p>
        </p:txBody>
      </p:sp>
      <p:sp>
        <p:nvSpPr>
          <p:cNvPr id="5" name="caja-7"/>
          <p:cNvSpPr/>
          <p:nvPr/>
        </p:nvSpPr>
        <p:spPr>
          <a:xfrm>
            <a:off x="548640" y="2377440"/>
            <a:ext cx="2602154" cy="1188720"/>
          </a:xfrm>
          <a:prstGeom prst="roundRect">
            <a:avLst>
              <a:gd name="adj" fmla="val 9231"/>
            </a:avLst>
          </a:prstGeom>
          <a:solidFill>
            <a:schemeClr val="accent6"/>
          </a:solidFill>
          <a:ln/>
        </p:spPr>
      </p:sp>
      <p:sp>
        <p:nvSpPr>
          <p:cNvPr id="6" name="texto-8"/>
          <p:cNvSpPr txBox="1"/>
          <p:nvPr/>
        </p:nvSpPr>
        <p:spPr>
          <a:xfrm>
            <a:off x="777240" y="2542032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Mar 20 oct</a:t>
            </a:r>
            <a:endParaRPr lang="en-US" sz="3200" dirty="0"/>
          </a:p>
        </p:txBody>
      </p:sp>
      <p:sp>
        <p:nvSpPr>
          <p:cNvPr id="7" name="texto-9"/>
          <p:cNvSpPr txBox="1"/>
          <p:nvPr/>
        </p:nvSpPr>
        <p:spPr>
          <a:xfrm>
            <a:off x="777240" y="310896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2026, en sala y por Teams</a:t>
            </a:r>
            <a:endParaRPr lang="en-US" sz="1400" dirty="0"/>
          </a:p>
        </p:txBody>
      </p:sp>
      <p:sp>
        <p:nvSpPr>
          <p:cNvPr id="8" name="caja-10"/>
          <p:cNvSpPr/>
          <p:nvPr/>
        </p:nvSpPr>
        <p:spPr>
          <a:xfrm>
            <a:off x="3379394" y="2377440"/>
            <a:ext cx="2602154" cy="1188720"/>
          </a:xfrm>
          <a:prstGeom prst="roundRect">
            <a:avLst>
              <a:gd name="adj" fmla="val 9231"/>
            </a:avLst>
          </a:prstGeom>
          <a:solidFill>
            <a:schemeClr val="accent6"/>
          </a:solidFill>
          <a:ln/>
        </p:spPr>
      </p:sp>
      <p:sp>
        <p:nvSpPr>
          <p:cNvPr id="9" name="texto-11"/>
          <p:cNvSpPr txBox="1"/>
          <p:nvPr/>
        </p:nvSpPr>
        <p:spPr>
          <a:xfrm>
            <a:off x="3607994" y="2542032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 horas</a:t>
            </a:r>
            <a:endParaRPr lang="en-US" sz="3200" dirty="0"/>
          </a:p>
        </p:txBody>
      </p:sp>
      <p:sp>
        <p:nvSpPr>
          <p:cNvPr id="10" name="texto-12"/>
          <p:cNvSpPr txBox="1"/>
          <p:nvPr/>
        </p:nvSpPr>
        <p:spPr>
          <a:xfrm>
            <a:off x="3607994" y="310896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 conceptos y demos en directo</a:t>
            </a:r>
            <a:endParaRPr lang="en-US" sz="1400" dirty="0"/>
          </a:p>
        </p:txBody>
      </p:sp>
      <p:sp>
        <p:nvSpPr>
          <p:cNvPr id="11" name="caja-13"/>
          <p:cNvSpPr/>
          <p:nvPr/>
        </p:nvSpPr>
        <p:spPr>
          <a:xfrm>
            <a:off x="6210148" y="2377440"/>
            <a:ext cx="2602154" cy="1188720"/>
          </a:xfrm>
          <a:prstGeom prst="roundRect">
            <a:avLst>
              <a:gd name="adj" fmla="val 9231"/>
            </a:avLst>
          </a:prstGeom>
          <a:solidFill>
            <a:schemeClr val="accent6"/>
          </a:solidFill>
          <a:ln/>
        </p:spPr>
      </p:sp>
      <p:sp>
        <p:nvSpPr>
          <p:cNvPr id="12" name="texto-14"/>
          <p:cNvSpPr txBox="1"/>
          <p:nvPr/>
        </p:nvSpPr>
        <p:spPr>
          <a:xfrm>
            <a:off x="6438748" y="2542032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11</a:t>
            </a:r>
            <a:endParaRPr lang="en-US" sz="3200" dirty="0"/>
          </a:p>
        </p:txBody>
      </p:sp>
      <p:sp>
        <p:nvSpPr>
          <p:cNvPr id="13" name="texto-15"/>
          <p:cNvSpPr txBox="1"/>
          <p:nvPr/>
        </p:nvSpPr>
        <p:spPr>
          <a:xfrm>
            <a:off x="6438748" y="310896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secciones, cada una con su PDF</a:t>
            </a:r>
            <a:endParaRPr lang="en-US" sz="1400" dirty="0"/>
          </a:p>
        </p:txBody>
      </p:sp>
      <p:sp>
        <p:nvSpPr>
          <p:cNvPr id="14" name="caja-16"/>
          <p:cNvSpPr/>
          <p:nvPr/>
        </p:nvSpPr>
        <p:spPr>
          <a:xfrm>
            <a:off x="9040901" y="2377440"/>
            <a:ext cx="2602154" cy="1188720"/>
          </a:xfrm>
          <a:prstGeom prst="roundRect">
            <a:avLst>
              <a:gd name="adj" fmla="val 9231"/>
            </a:avLst>
          </a:prstGeom>
          <a:solidFill>
            <a:schemeClr val="accent6"/>
          </a:solidFill>
          <a:ln/>
        </p:spPr>
      </p:sp>
      <p:sp>
        <p:nvSpPr>
          <p:cNvPr id="15" name="texto-17"/>
          <p:cNvSpPr txBox="1"/>
          <p:nvPr/>
        </p:nvSpPr>
        <p:spPr>
          <a:xfrm>
            <a:off x="9269501" y="2542032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25+</a:t>
            </a:r>
            <a:endParaRPr lang="en-US" sz="3200" dirty="0"/>
          </a:p>
        </p:txBody>
      </p:sp>
      <p:sp>
        <p:nvSpPr>
          <p:cNvPr id="16" name="texto-18"/>
          <p:cNvSpPr txBox="1"/>
          <p:nvPr/>
        </p:nvSpPr>
        <p:spPr>
          <a:xfrm>
            <a:off x="9269501" y="310896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prompts reales para copiar</a:t>
            </a:r>
            <a:endParaRPr lang="en-US" sz="1400" dirty="0"/>
          </a:p>
        </p:txBody>
      </p:sp>
      <p:sp>
        <p:nvSpPr>
          <p:cNvPr id="17" name="caja-19"/>
          <p:cNvSpPr/>
          <p:nvPr/>
        </p:nvSpPr>
        <p:spPr>
          <a:xfrm>
            <a:off x="548640" y="3794760"/>
            <a:ext cx="354573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8" name="texto-20"/>
          <p:cNvSpPr txBox="1"/>
          <p:nvPr/>
        </p:nvSpPr>
        <p:spPr>
          <a:xfrm>
            <a:off x="768096" y="4014216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No es el futuro</a:t>
            </a:r>
            <a:endParaRPr lang="en-US" sz="1900" dirty="0"/>
          </a:p>
        </p:txBody>
      </p:sp>
      <p:sp>
        <p:nvSpPr>
          <p:cNvPr id="19" name="texto-21"/>
          <p:cNvSpPr txBox="1"/>
          <p:nvPr/>
        </p:nvSpPr>
        <p:spPr>
          <a:xfrm>
            <a:off x="768096" y="4462272"/>
            <a:ext cx="310682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«No es el futuro, es tecnología que tenemos». Excel sin fórmulas, PowerPoint sin abrirlo y el correo ordenado solo.</a:t>
            </a:r>
            <a:endParaRPr lang="en-US" sz="1600" dirty="0"/>
          </a:p>
        </p:txBody>
      </p:sp>
      <p:sp>
        <p:nvSpPr>
          <p:cNvPr id="20" name="caja-22"/>
          <p:cNvSpPr/>
          <p:nvPr/>
        </p:nvSpPr>
        <p:spPr>
          <a:xfrm>
            <a:off x="4322978" y="3794760"/>
            <a:ext cx="354573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21" name="texto-23"/>
          <p:cNvSpPr txBox="1"/>
          <p:nvPr/>
        </p:nvSpPr>
        <p:spPr>
          <a:xfrm>
            <a:off x="4542434" y="4014216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Dos grandes partes</a:t>
            </a:r>
            <a:endParaRPr lang="en-US" sz="1900" dirty="0"/>
          </a:p>
        </p:txBody>
      </p:sp>
      <p:sp>
        <p:nvSpPr>
          <p:cNvPr id="22" name="texto-24"/>
          <p:cNvSpPr txBox="1"/>
          <p:nvPr/>
        </p:nvSpPr>
        <p:spPr>
          <a:xfrm>
            <a:off x="4542434" y="4462272"/>
            <a:ext cx="310682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Claude</a:t>
            </a:r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 trabaja con tu correo, tus documentos, tu navegador y tus datos. </a:t>
            </a:r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Claude Code</a:t>
            </a:r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 hace software propio: apps, scripts y tareas diarias.</a:t>
            </a:r>
            <a:endParaRPr lang="en-US" sz="1600" dirty="0"/>
          </a:p>
        </p:txBody>
      </p:sp>
      <p:sp>
        <p:nvSpPr>
          <p:cNvPr id="23" name="caja-25"/>
          <p:cNvSpPr/>
          <p:nvPr/>
        </p:nvSpPr>
        <p:spPr>
          <a:xfrm>
            <a:off x="8097317" y="3794760"/>
            <a:ext cx="354573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24" name="texto-26"/>
          <p:cNvSpPr txBox="1"/>
          <p:nvPr/>
        </p:nvSpPr>
        <p:spPr>
          <a:xfrm>
            <a:off x="8316773" y="4014216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Pregúntale a él</a:t>
            </a:r>
            <a:endParaRPr lang="en-US" sz="1900" dirty="0"/>
          </a:p>
        </p:txBody>
      </p:sp>
      <p:sp>
        <p:nvSpPr>
          <p:cNvPr id="25" name="texto-27"/>
          <p:cNvSpPr txBox="1"/>
          <p:nvPr/>
        </p:nvSpPr>
        <p:spPr>
          <a:xfrm>
            <a:off x="8316773" y="4462272"/>
            <a:ext cx="310682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«La solución tiene la solución a su uso». Nadie lleva más de unos meses con esto: lo que no sepas, pregúntaselo a Claude.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INICIO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Las 11 secciones de la formación</a:t>
            </a:r>
            <a:endParaRPr lang="en-US" sz="3200" dirty="0"/>
          </a:p>
        </p:txBody>
      </p:sp>
      <p:sp>
        <p:nvSpPr>
          <p:cNvPr id="4" name="circulo-28"/>
          <p:cNvSpPr/>
          <p:nvPr/>
        </p:nvSpPr>
        <p:spPr>
          <a:xfrm>
            <a:off x="548640" y="1673352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o-29"/>
          <p:cNvSpPr txBox="1"/>
          <p:nvPr/>
        </p:nvSpPr>
        <p:spPr>
          <a:xfrm>
            <a:off x="548640" y="1673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o-30"/>
          <p:cNvSpPr txBox="1"/>
          <p:nvPr/>
        </p:nvSpPr>
        <p:spPr>
          <a:xfrm>
            <a:off x="1207008" y="1627632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Inicio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Claude no es otro chat: es una plantilla de doctorandos trabajando para ti.</a:t>
            </a:r>
            <a:endParaRPr lang="en-US" sz="1400" dirty="0"/>
          </a:p>
        </p:txBody>
      </p:sp>
      <p:sp>
        <p:nvSpPr>
          <p:cNvPr id="7" name="circulo-31"/>
          <p:cNvSpPr/>
          <p:nvPr/>
        </p:nvSpPr>
        <p:spPr>
          <a:xfrm>
            <a:off x="548640" y="243230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o-32"/>
          <p:cNvSpPr txBox="1"/>
          <p:nvPr/>
        </p:nvSpPr>
        <p:spPr>
          <a:xfrm>
            <a:off x="548640" y="2432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texto-33"/>
          <p:cNvSpPr txBox="1"/>
          <p:nvPr/>
        </p:nvSpPr>
        <p:spPr>
          <a:xfrm>
            <a:off x="1207008" y="2386584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El mapa de Claude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Las piezas, para qué sirve cada una y cómo encajan.</a:t>
            </a:r>
            <a:endParaRPr lang="en-US" sz="1400" dirty="0"/>
          </a:p>
        </p:txBody>
      </p:sp>
      <p:sp>
        <p:nvSpPr>
          <p:cNvPr id="10" name="circulo-34"/>
          <p:cNvSpPr/>
          <p:nvPr/>
        </p:nvSpPr>
        <p:spPr>
          <a:xfrm>
            <a:off x="548640" y="319125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o-35"/>
          <p:cNvSpPr txBox="1"/>
          <p:nvPr/>
        </p:nvSpPr>
        <p:spPr>
          <a:xfrm>
            <a:off x="548640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/>
          </a:p>
        </p:txBody>
      </p:sp>
      <p:sp>
        <p:nvSpPr>
          <p:cNvPr id="12" name="texto-36"/>
          <p:cNvSpPr txBox="1"/>
          <p:nvPr/>
        </p:nvSpPr>
        <p:spPr>
          <a:xfrm>
            <a:off x="1207008" y="314553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Modelos y planes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Qué modelo usar, qué plan contratar y cómo hemos llegado aquí.</a:t>
            </a:r>
            <a:endParaRPr lang="en-US" sz="1400" dirty="0"/>
          </a:p>
        </p:txBody>
      </p:sp>
      <p:sp>
        <p:nvSpPr>
          <p:cNvPr id="13" name="circulo-37"/>
          <p:cNvSpPr/>
          <p:nvPr/>
        </p:nvSpPr>
        <p:spPr>
          <a:xfrm>
            <a:off x="548640" y="395020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o-38"/>
          <p:cNvSpPr txBox="1"/>
          <p:nvPr/>
        </p:nvSpPr>
        <p:spPr>
          <a:xfrm>
            <a:off x="548640" y="3950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04</a:t>
            </a:r>
            <a:endParaRPr lang="en-US" sz="1300" dirty="0"/>
          </a:p>
        </p:txBody>
      </p:sp>
      <p:sp>
        <p:nvSpPr>
          <p:cNvPr id="15" name="texto-39"/>
          <p:cNvSpPr txBox="1"/>
          <p:nvPr/>
        </p:nvSpPr>
        <p:spPr>
          <a:xfrm>
            <a:off x="1207008" y="390448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Pedir bien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Lo cuentas con tus palabras: objetivo, contexto y fuente.</a:t>
            </a:r>
            <a:endParaRPr lang="en-US" sz="1400" dirty="0"/>
          </a:p>
        </p:txBody>
      </p:sp>
      <p:sp>
        <p:nvSpPr>
          <p:cNvPr id="16" name="circulo-40"/>
          <p:cNvSpPr/>
          <p:nvPr/>
        </p:nvSpPr>
        <p:spPr>
          <a:xfrm>
            <a:off x="548640" y="470916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o-41"/>
          <p:cNvSpPr txBox="1"/>
          <p:nvPr/>
        </p:nvSpPr>
        <p:spPr>
          <a:xfrm>
            <a:off x="548640" y="4709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05</a:t>
            </a:r>
            <a:endParaRPr lang="en-US" sz="1300" dirty="0"/>
          </a:p>
        </p:txBody>
      </p:sp>
      <p:sp>
        <p:nvSpPr>
          <p:cNvPr id="18" name="texto-42"/>
          <p:cNvSpPr txBox="1"/>
          <p:nvPr/>
        </p:nvSpPr>
        <p:spPr>
          <a:xfrm>
            <a:off x="1207008" y="466344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Conectar Claude a tu día a día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Conectores, MCP y la extensión que navega con tu sesión.</a:t>
            </a:r>
            <a:endParaRPr lang="en-US" sz="1400" dirty="0"/>
          </a:p>
        </p:txBody>
      </p:sp>
      <p:sp>
        <p:nvSpPr>
          <p:cNvPr id="19" name="circulo-43"/>
          <p:cNvSpPr/>
          <p:nvPr/>
        </p:nvSpPr>
        <p:spPr>
          <a:xfrm>
            <a:off x="548640" y="546811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o-44"/>
          <p:cNvSpPr txBox="1"/>
          <p:nvPr/>
        </p:nvSpPr>
        <p:spPr>
          <a:xfrm>
            <a:off x="548640" y="5468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06</a:t>
            </a:r>
            <a:endParaRPr lang="en-US" sz="1300" dirty="0"/>
          </a:p>
        </p:txBody>
      </p:sp>
      <p:sp>
        <p:nvSpPr>
          <p:cNvPr id="21" name="texto-45"/>
          <p:cNvSpPr txBox="1"/>
          <p:nvPr/>
        </p:nvSpPr>
        <p:spPr>
          <a:xfrm>
            <a:off x="1207008" y="5422392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Skills y el cerebro de la empresa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El contexto que no tienes que repetir cada mañana.</a:t>
            </a:r>
            <a:endParaRPr lang="en-US" sz="1400" dirty="0"/>
          </a:p>
        </p:txBody>
      </p:sp>
      <p:sp>
        <p:nvSpPr>
          <p:cNvPr id="22" name="circulo-46"/>
          <p:cNvSpPr/>
          <p:nvPr/>
        </p:nvSpPr>
        <p:spPr>
          <a:xfrm>
            <a:off x="6263640" y="167335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o-47"/>
          <p:cNvSpPr txBox="1"/>
          <p:nvPr/>
        </p:nvSpPr>
        <p:spPr>
          <a:xfrm>
            <a:off x="6263640" y="1673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07</a:t>
            </a:r>
            <a:endParaRPr lang="en-US" sz="1300" dirty="0"/>
          </a:p>
        </p:txBody>
      </p:sp>
      <p:sp>
        <p:nvSpPr>
          <p:cNvPr id="24" name="texto-48"/>
          <p:cNvSpPr txBox="1"/>
          <p:nvPr/>
        </p:nvSpPr>
        <p:spPr>
          <a:xfrm>
            <a:off x="6922008" y="1627632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Correo, documentos y presentaciones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Todo a borrador, e informes y presentaciones con tu marca.</a:t>
            </a:r>
            <a:endParaRPr lang="en-US" sz="1400" dirty="0"/>
          </a:p>
        </p:txBody>
      </p:sp>
      <p:sp>
        <p:nvSpPr>
          <p:cNvPr id="25" name="circulo-49"/>
          <p:cNvSpPr/>
          <p:nvPr/>
        </p:nvSpPr>
        <p:spPr>
          <a:xfrm>
            <a:off x="6263640" y="243230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o-50"/>
          <p:cNvSpPr txBox="1"/>
          <p:nvPr/>
        </p:nvSpPr>
        <p:spPr>
          <a:xfrm>
            <a:off x="6263640" y="2432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08</a:t>
            </a:r>
            <a:endParaRPr lang="en-US" sz="1300" dirty="0"/>
          </a:p>
        </p:txBody>
      </p:sp>
      <p:sp>
        <p:nvSpPr>
          <p:cNvPr id="27" name="texto-51"/>
          <p:cNvSpPr txBox="1"/>
          <p:nvPr/>
        </p:nvSpPr>
        <p:spPr>
          <a:xfrm>
            <a:off x="6922008" y="2386584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Claude Code para no programadores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Software propio sin saber programar.</a:t>
            </a:r>
            <a:endParaRPr lang="en-US" sz="1400" dirty="0"/>
          </a:p>
        </p:txBody>
      </p:sp>
      <p:sp>
        <p:nvSpPr>
          <p:cNvPr id="28" name="circulo-52"/>
          <p:cNvSpPr/>
          <p:nvPr/>
        </p:nvSpPr>
        <p:spPr>
          <a:xfrm>
            <a:off x="6263640" y="319125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o-53"/>
          <p:cNvSpPr txBox="1"/>
          <p:nvPr/>
        </p:nvSpPr>
        <p:spPr>
          <a:xfrm>
            <a:off x="6263640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09</a:t>
            </a:r>
            <a:endParaRPr lang="en-US" sz="1300" dirty="0"/>
          </a:p>
        </p:txBody>
      </p:sp>
      <p:sp>
        <p:nvSpPr>
          <p:cNvPr id="30" name="texto-54"/>
          <p:cNvSpPr txBox="1"/>
          <p:nvPr/>
        </p:nvSpPr>
        <p:spPr>
          <a:xfrm>
            <a:off x="6922008" y="314553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Datos: extraer, limpiar y vigilar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De la web a tu Excel, y que se repita solo.</a:t>
            </a:r>
            <a:endParaRPr lang="en-US" sz="1400" dirty="0"/>
          </a:p>
        </p:txBody>
      </p:sp>
      <p:sp>
        <p:nvSpPr>
          <p:cNvPr id="31" name="circulo-55"/>
          <p:cNvSpPr/>
          <p:nvPr/>
        </p:nvSpPr>
        <p:spPr>
          <a:xfrm>
            <a:off x="6263640" y="395020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o-56"/>
          <p:cNvSpPr txBox="1"/>
          <p:nvPr/>
        </p:nvSpPr>
        <p:spPr>
          <a:xfrm>
            <a:off x="6263640" y="3950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33" name="texto-57"/>
          <p:cNvSpPr txBox="1"/>
          <p:nvPr/>
        </p:nvSpPr>
        <p:spPr>
          <a:xfrm>
            <a:off x="6922008" y="390448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Construir cosas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Apps, webs, vídeo y agentes que trabajan por correo.</a:t>
            </a:r>
            <a:endParaRPr lang="en-US" sz="1400" dirty="0"/>
          </a:p>
        </p:txBody>
      </p:sp>
      <p:sp>
        <p:nvSpPr>
          <p:cNvPr id="34" name="circulo-58"/>
          <p:cNvSpPr/>
          <p:nvPr/>
        </p:nvSpPr>
        <p:spPr>
          <a:xfrm>
            <a:off x="6263640" y="470916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o-59"/>
          <p:cNvSpPr txBox="1"/>
          <p:nvPr/>
        </p:nvSpPr>
        <p:spPr>
          <a:xfrm>
            <a:off x="6263640" y="4709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sp>
        <p:nvSpPr>
          <p:cNvPr id="36" name="texto-60"/>
          <p:cNvSpPr txBox="1"/>
          <p:nvPr/>
        </p:nvSpPr>
        <p:spPr>
          <a:xfrm>
            <a:off x="6922008" y="466344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Seguridad, costes y lo que viene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Checklist, riesgos, hacia dónde va y tus deberes.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INICIO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Antes y después</a:t>
            </a:r>
            <a:endParaRPr lang="en-US" sz="3200" dirty="0"/>
          </a:p>
        </p:txBody>
      </p:sp>
      <p:sp>
        <p:nvSpPr>
          <p:cNvPr id="4" name="texto-61"/>
          <p:cNvSpPr txBox="1"/>
          <p:nvPr/>
        </p:nvSpPr>
        <p:spPr>
          <a:xfrm>
            <a:off x="548640" y="148132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Tiempos que se contaron en la sala. Son datos dichos en la sesión, sin comprobar, pero dan la medida del cambio.</a:t>
            </a:r>
            <a:endParaRPr lang="en-US" sz="1400" dirty="0"/>
          </a:p>
        </p:txBody>
      </p:sp>
      <p:sp>
        <p:nvSpPr>
          <p:cNvPr id="5" name="texto-62"/>
          <p:cNvSpPr txBox="1"/>
          <p:nvPr/>
        </p:nvSpPr>
        <p:spPr>
          <a:xfrm>
            <a:off x="3611880" y="1938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5"/>
                </a:solidFill>
              </a:rPr>
              <a:t>ANTES</a:t>
            </a:r>
            <a:endParaRPr lang="en-US" sz="1050" dirty="0"/>
          </a:p>
        </p:txBody>
      </p:sp>
      <p:sp>
        <p:nvSpPr>
          <p:cNvPr id="6" name="texto-63"/>
          <p:cNvSpPr txBox="1"/>
          <p:nvPr/>
        </p:nvSpPr>
        <p:spPr>
          <a:xfrm>
            <a:off x="7863840" y="1938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AHORA, CON CLAUDE</a:t>
            </a:r>
            <a:endParaRPr lang="en-US" sz="1050" dirty="0"/>
          </a:p>
        </p:txBody>
      </p:sp>
      <p:sp>
        <p:nvSpPr>
          <p:cNvPr id="7" name="texto-64"/>
          <p:cNvSpPr txBox="1"/>
          <p:nvPr/>
        </p:nvSpPr>
        <p:spPr>
          <a:xfrm>
            <a:off x="548640" y="224028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Informe de analítica web</a:t>
            </a:r>
            <a:endParaRPr lang="en-US" sz="1500" dirty="0"/>
          </a:p>
        </p:txBody>
      </p:sp>
      <p:sp>
        <p:nvSpPr>
          <p:cNvPr id="8" name="caja-65"/>
          <p:cNvSpPr/>
          <p:nvPr/>
        </p:nvSpPr>
        <p:spPr>
          <a:xfrm>
            <a:off x="3611880" y="2240280"/>
            <a:ext cx="3794760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9" name="texto-66"/>
          <p:cNvSpPr txBox="1"/>
          <p:nvPr/>
        </p:nvSpPr>
        <p:spPr>
          <a:xfrm>
            <a:off x="3794760" y="2240280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4 o 5 días con segmentos, 8 Excel y tablas dinámicas</a:t>
            </a:r>
            <a:endParaRPr lang="en-US" sz="1350" dirty="0"/>
          </a:p>
        </p:txBody>
      </p:sp>
      <p:sp>
        <p:nvSpPr>
          <p:cNvPr id="10" name="texto-67"/>
          <p:cNvSpPr txBox="1"/>
          <p:nvPr/>
        </p:nvSpPr>
        <p:spPr>
          <a:xfrm>
            <a:off x="7406640" y="224028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caja-68"/>
          <p:cNvSpPr/>
          <p:nvPr/>
        </p:nvSpPr>
        <p:spPr>
          <a:xfrm>
            <a:off x="7863840" y="2240280"/>
            <a:ext cx="3776472" cy="676656"/>
          </a:xfrm>
          <a:prstGeom prst="roundRect">
            <a:avLst>
              <a:gd name="adj" fmla="val 16216"/>
            </a:avLst>
          </a:prstGeom>
          <a:solidFill>
            <a:schemeClr val="accent1"/>
          </a:solidFill>
          <a:ln/>
        </p:spPr>
      </p:sp>
      <p:sp>
        <p:nvSpPr>
          <p:cNvPr id="12" name="texto-69"/>
          <p:cNvSpPr txBox="1"/>
          <p:nvPr/>
        </p:nvSpPr>
        <p:spPr>
          <a:xfrm>
            <a:off x="8046720" y="2240280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unos 15 minutos con la extensión de Chrome</a:t>
            </a:r>
            <a:endParaRPr lang="en-US" sz="1400" dirty="0"/>
          </a:p>
        </p:txBody>
      </p:sp>
      <p:sp>
        <p:nvSpPr>
          <p:cNvPr id="13" name="texto-70"/>
          <p:cNvSpPr txBox="1"/>
          <p:nvPr/>
        </p:nvSpPr>
        <p:spPr>
          <a:xfrm>
            <a:off x="548640" y="302666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 interna para un equipo</a:t>
            </a:r>
            <a:endParaRPr lang="en-US" sz="1500" dirty="0"/>
          </a:p>
        </p:txBody>
      </p:sp>
      <p:sp>
        <p:nvSpPr>
          <p:cNvPr id="14" name="caja-71"/>
          <p:cNvSpPr/>
          <p:nvPr/>
        </p:nvSpPr>
        <p:spPr>
          <a:xfrm>
            <a:off x="3611880" y="3026664"/>
            <a:ext cx="3794760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15" name="texto-72"/>
          <p:cNvSpPr txBox="1"/>
          <p:nvPr/>
        </p:nvSpPr>
        <p:spPr>
          <a:xfrm>
            <a:off x="3794760" y="3026664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medio año y un experto caro</a:t>
            </a:r>
            <a:endParaRPr lang="en-US" sz="1350" dirty="0"/>
          </a:p>
        </p:txBody>
      </p:sp>
      <p:sp>
        <p:nvSpPr>
          <p:cNvPr id="16" name="texto-73"/>
          <p:cNvSpPr txBox="1"/>
          <p:nvPr/>
        </p:nvSpPr>
        <p:spPr>
          <a:xfrm>
            <a:off x="7406640" y="302666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caja-74"/>
          <p:cNvSpPr/>
          <p:nvPr/>
        </p:nvSpPr>
        <p:spPr>
          <a:xfrm>
            <a:off x="7863840" y="3026664"/>
            <a:ext cx="3776472" cy="676656"/>
          </a:xfrm>
          <a:prstGeom prst="roundRect">
            <a:avLst>
              <a:gd name="adj" fmla="val 16216"/>
            </a:avLst>
          </a:prstGeom>
          <a:solidFill>
            <a:schemeClr val="accent1"/>
          </a:solidFill>
          <a:ln/>
        </p:spPr>
      </p:sp>
      <p:sp>
        <p:nvSpPr>
          <p:cNvPr id="18" name="texto-75"/>
          <p:cNvSpPr txBox="1"/>
          <p:nvPr/>
        </p:nvSpPr>
        <p:spPr>
          <a:xfrm>
            <a:off x="8046720" y="3026664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«en 2 tardes», compilada en tiempo real</a:t>
            </a:r>
            <a:endParaRPr lang="en-US" sz="1400" dirty="0"/>
          </a:p>
        </p:txBody>
      </p:sp>
      <p:sp>
        <p:nvSpPr>
          <p:cNvPr id="19" name="texto-76"/>
          <p:cNvSpPr txBox="1"/>
          <p:nvPr/>
        </p:nvSpPr>
        <p:spPr>
          <a:xfrm>
            <a:off x="548640" y="381304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70.000 descripciones de producto</a:t>
            </a:r>
            <a:endParaRPr lang="en-US" sz="1500" dirty="0"/>
          </a:p>
        </p:txBody>
      </p:sp>
      <p:sp>
        <p:nvSpPr>
          <p:cNvPr id="20" name="caja-77"/>
          <p:cNvSpPr/>
          <p:nvPr/>
        </p:nvSpPr>
        <p:spPr>
          <a:xfrm>
            <a:off x="3611880" y="3813048"/>
            <a:ext cx="3794760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21" name="texto-78"/>
          <p:cNvSpPr txBox="1"/>
          <p:nvPr/>
        </p:nvSpPr>
        <p:spPr>
          <a:xfrm>
            <a:off x="3794760" y="3813048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una o varias personas durante uno o dos años</a:t>
            </a:r>
            <a:endParaRPr lang="en-US" sz="1350" dirty="0"/>
          </a:p>
        </p:txBody>
      </p:sp>
      <p:sp>
        <p:nvSpPr>
          <p:cNvPr id="22" name="texto-79"/>
          <p:cNvSpPr txBox="1"/>
          <p:nvPr/>
        </p:nvSpPr>
        <p:spPr>
          <a:xfrm>
            <a:off x="7406640" y="381304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caja-80"/>
          <p:cNvSpPr/>
          <p:nvPr/>
        </p:nvSpPr>
        <p:spPr>
          <a:xfrm>
            <a:off x="7863840" y="3813048"/>
            <a:ext cx="3776472" cy="676656"/>
          </a:xfrm>
          <a:prstGeom prst="roundRect">
            <a:avLst>
              <a:gd name="adj" fmla="val 16216"/>
            </a:avLst>
          </a:prstGeom>
          <a:solidFill>
            <a:schemeClr val="accent1"/>
          </a:solidFill>
          <a:ln/>
        </p:spPr>
      </p:sp>
      <p:sp>
        <p:nvSpPr>
          <p:cNvPr id="24" name="texto-81"/>
          <p:cNvSpPr txBox="1"/>
          <p:nvPr/>
        </p:nvSpPr>
        <p:spPr>
          <a:xfrm>
            <a:off x="8046720" y="3813048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 días, revisando el 15 % por muestreo</a:t>
            </a:r>
            <a:endParaRPr lang="en-US" sz="1400" dirty="0"/>
          </a:p>
        </p:txBody>
      </p:sp>
      <p:sp>
        <p:nvSpPr>
          <p:cNvPr id="25" name="texto-82"/>
          <p:cNvSpPr txBox="1"/>
          <p:nvPr/>
        </p:nvSpPr>
        <p:spPr>
          <a:xfrm>
            <a:off x="548640" y="459943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Base de datos de talleres</a:t>
            </a:r>
            <a:endParaRPr lang="en-US" sz="1500" dirty="0"/>
          </a:p>
        </p:txBody>
      </p:sp>
      <p:sp>
        <p:nvSpPr>
          <p:cNvPr id="26" name="caja-83"/>
          <p:cNvSpPr/>
          <p:nvPr/>
        </p:nvSpPr>
        <p:spPr>
          <a:xfrm>
            <a:off x="3611880" y="4599432"/>
            <a:ext cx="3794760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27" name="texto-84"/>
          <p:cNvSpPr txBox="1"/>
          <p:nvPr/>
        </p:nvSpPr>
        <p:spPr>
          <a:xfrm>
            <a:off x="3794760" y="4599432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se compraba, y cara</a:t>
            </a:r>
            <a:endParaRPr lang="en-US" sz="1350" dirty="0"/>
          </a:p>
        </p:txBody>
      </p:sp>
      <p:sp>
        <p:nvSpPr>
          <p:cNvPr id="28" name="texto-85"/>
          <p:cNvSpPr txBox="1"/>
          <p:nvPr/>
        </p:nvSpPr>
        <p:spPr>
          <a:xfrm>
            <a:off x="7406640" y="459943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caja-86"/>
          <p:cNvSpPr/>
          <p:nvPr/>
        </p:nvSpPr>
        <p:spPr>
          <a:xfrm>
            <a:off x="7863840" y="4599432"/>
            <a:ext cx="3776472" cy="676656"/>
          </a:xfrm>
          <a:prstGeom prst="roundRect">
            <a:avLst>
              <a:gd name="adj" fmla="val 16216"/>
            </a:avLst>
          </a:prstGeom>
          <a:solidFill>
            <a:schemeClr val="accent1"/>
          </a:solidFill>
          <a:ln/>
        </p:spPr>
      </p:sp>
      <p:sp>
        <p:nvSpPr>
          <p:cNvPr id="30" name="texto-87"/>
          <p:cNvSpPr txBox="1"/>
          <p:nvPr/>
        </p:nvSpPr>
        <p:spPr>
          <a:xfrm>
            <a:off x="8046720" y="4599432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7.175 talleres en alrededor de una hora</a:t>
            </a:r>
            <a:endParaRPr lang="en-US" sz="1400" dirty="0"/>
          </a:p>
        </p:txBody>
      </p:sp>
      <p:sp>
        <p:nvSpPr>
          <p:cNvPr id="31" name="texto-88"/>
          <p:cNvSpPr txBox="1"/>
          <p:nvPr/>
        </p:nvSpPr>
        <p:spPr>
          <a:xfrm>
            <a:off x="548640" y="538581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Informe con datos públicos</a:t>
            </a:r>
            <a:endParaRPr lang="en-US" sz="1500" dirty="0"/>
          </a:p>
        </p:txBody>
      </p:sp>
      <p:sp>
        <p:nvSpPr>
          <p:cNvPr id="32" name="caja-89"/>
          <p:cNvSpPr/>
          <p:nvPr/>
        </p:nvSpPr>
        <p:spPr>
          <a:xfrm>
            <a:off x="3611880" y="5385816"/>
            <a:ext cx="3794760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33" name="texto-90"/>
          <p:cNvSpPr txBox="1"/>
          <p:nvPr/>
        </p:nvSpPr>
        <p:spPr>
          <a:xfrm>
            <a:off x="3794760" y="5385816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bucear en webs de estadística y bajar Excel</a:t>
            </a:r>
            <a:endParaRPr lang="en-US" sz="1350" dirty="0"/>
          </a:p>
        </p:txBody>
      </p:sp>
      <p:sp>
        <p:nvSpPr>
          <p:cNvPr id="34" name="texto-91"/>
          <p:cNvSpPr txBox="1"/>
          <p:nvPr/>
        </p:nvSpPr>
        <p:spPr>
          <a:xfrm>
            <a:off x="7406640" y="538581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35" name="caja-92"/>
          <p:cNvSpPr/>
          <p:nvPr/>
        </p:nvSpPr>
        <p:spPr>
          <a:xfrm>
            <a:off x="7863840" y="5385816"/>
            <a:ext cx="3776472" cy="676656"/>
          </a:xfrm>
          <a:prstGeom prst="roundRect">
            <a:avLst>
              <a:gd name="adj" fmla="val 16216"/>
            </a:avLst>
          </a:prstGeom>
          <a:solidFill>
            <a:schemeClr val="accent1"/>
          </a:solidFill>
          <a:ln/>
        </p:spPr>
      </p:sp>
      <p:sp>
        <p:nvSpPr>
          <p:cNvPr id="36" name="texto-93"/>
          <p:cNvSpPr txBox="1"/>
          <p:nvPr/>
        </p:nvSpPr>
        <p:spPr>
          <a:xfrm>
            <a:off x="8046720" y="5385816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 páginas en directo, con el estilo de la empresa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El mapa de Claude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Las piezas, para qué sirve cada una y cómo encajan.</a:t>
            </a:r>
            <a:endParaRPr lang="en-US" sz="1700" dirty="0"/>
          </a:p>
        </p:txBody>
      </p:sp>
      <p:pic>
        <p:nvPicPr>
          <p:cNvPr id="5" name="foto-94" descr="El mapa de Clau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EL MAPA DE CLAUDE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Las piezas</a:t>
            </a:r>
            <a:endParaRPr lang="en-US" sz="3200" dirty="0"/>
          </a:p>
        </p:txBody>
      </p:sp>
      <p:sp>
        <p:nvSpPr>
          <p:cNvPr id="4" name="texto-95"/>
          <p:cNvSpPr txBox="1"/>
          <p:nvPr/>
        </p:nvSpPr>
        <p:spPr>
          <a:xfrm>
            <a:off x="548640" y="148132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Por fuera Claude es sencillo, «como la página de Google, con un campo para que escribas». Por dentro tiene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piezas que se suman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caja-96"/>
          <p:cNvSpPr/>
          <p:nvPr/>
        </p:nvSpPr>
        <p:spPr>
          <a:xfrm>
            <a:off x="548640" y="2103120"/>
            <a:ext cx="2602154" cy="1933956"/>
          </a:xfrm>
          <a:prstGeom prst="roundRect">
            <a:avLst>
              <a:gd name="adj" fmla="val 5674"/>
            </a:avLst>
          </a:prstGeom>
          <a:solidFill>
            <a:schemeClr val="bg2"/>
          </a:solidFill>
          <a:ln/>
        </p:spPr>
      </p:sp>
      <p:sp>
        <p:nvSpPr>
          <p:cNvPr id="6" name="texto-97"/>
          <p:cNvSpPr txBox="1"/>
          <p:nvPr/>
        </p:nvSpPr>
        <p:spPr>
          <a:xfrm>
            <a:off x="768096" y="2322576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CLAUDE.AI</a:t>
            </a:r>
            <a:endParaRPr lang="en-US" sz="1050" dirty="0"/>
          </a:p>
        </p:txBody>
      </p:sp>
      <p:sp>
        <p:nvSpPr>
          <p:cNvPr id="7" name="texto-98"/>
          <p:cNvSpPr txBox="1"/>
          <p:nvPr/>
        </p:nvSpPr>
        <p:spPr>
          <a:xfrm>
            <a:off x="768096" y="2578608"/>
            <a:ext cx="2163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Chat</a:t>
            </a:r>
            <a:endParaRPr lang="en-US" sz="1700" dirty="0"/>
          </a:p>
        </p:txBody>
      </p:sp>
      <p:sp>
        <p:nvSpPr>
          <p:cNvPr id="8" name="texto-99"/>
          <p:cNvSpPr txBox="1"/>
          <p:nvPr/>
        </p:nvSpPr>
        <p:spPr>
          <a:xfrm>
            <a:off x="768096" y="2999232"/>
            <a:ext cx="2163242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Pedir con tus palabras. También puede preparar un borrador de correo.</a:t>
            </a:r>
            <a:endParaRPr lang="en-US" sz="1400" dirty="0"/>
          </a:p>
        </p:txBody>
      </p:sp>
      <p:sp>
        <p:nvSpPr>
          <p:cNvPr id="9" name="caja-100"/>
          <p:cNvSpPr/>
          <p:nvPr/>
        </p:nvSpPr>
        <p:spPr>
          <a:xfrm>
            <a:off x="3379394" y="2103120"/>
            <a:ext cx="2602154" cy="1933956"/>
          </a:xfrm>
          <a:prstGeom prst="roundRect">
            <a:avLst>
              <a:gd name="adj" fmla="val 5674"/>
            </a:avLst>
          </a:prstGeom>
          <a:solidFill>
            <a:schemeClr val="bg2"/>
          </a:solidFill>
          <a:ln/>
        </p:spPr>
      </p:sp>
      <p:sp>
        <p:nvSpPr>
          <p:cNvPr id="10" name="texto-101"/>
          <p:cNvSpPr txBox="1"/>
          <p:nvPr/>
        </p:nvSpPr>
        <p:spPr>
          <a:xfrm>
            <a:off x="3598850" y="2322576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APP DE ESCRITORIO</a:t>
            </a:r>
            <a:endParaRPr lang="en-US" sz="1050" dirty="0"/>
          </a:p>
        </p:txBody>
      </p:sp>
      <p:sp>
        <p:nvSpPr>
          <p:cNvPr id="11" name="texto-102"/>
          <p:cNvSpPr txBox="1"/>
          <p:nvPr/>
        </p:nvSpPr>
        <p:spPr>
          <a:xfrm>
            <a:off x="3598850" y="2578608"/>
            <a:ext cx="2163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Cowork</a:t>
            </a:r>
            <a:endParaRPr lang="en-US" sz="1700" dirty="0"/>
          </a:p>
        </p:txBody>
      </p:sp>
      <p:sp>
        <p:nvSpPr>
          <p:cNvPr id="12" name="texto-103"/>
          <p:cNvSpPr txBox="1"/>
          <p:nvPr/>
        </p:nvSpPr>
        <p:spPr>
          <a:xfrm>
            <a:off x="3598850" y="2999232"/>
            <a:ext cx="2163242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Trabaja con tus carpetas y tus conexiones. Hay que usar la app, no la web.</a:t>
            </a:r>
            <a:endParaRPr lang="en-US" sz="1400" dirty="0"/>
          </a:p>
        </p:txBody>
      </p:sp>
      <p:sp>
        <p:nvSpPr>
          <p:cNvPr id="13" name="caja-104"/>
          <p:cNvSpPr/>
          <p:nvPr/>
        </p:nvSpPr>
        <p:spPr>
          <a:xfrm>
            <a:off x="6210148" y="2103120"/>
            <a:ext cx="2602154" cy="1933956"/>
          </a:xfrm>
          <a:prstGeom prst="roundRect">
            <a:avLst>
              <a:gd name="adj" fmla="val 5674"/>
            </a:avLst>
          </a:prstGeom>
          <a:solidFill>
            <a:schemeClr val="bg2"/>
          </a:solidFill>
          <a:ln/>
        </p:spPr>
      </p:sp>
      <p:sp>
        <p:nvSpPr>
          <p:cNvPr id="14" name="texto-105"/>
          <p:cNvSpPr txBox="1"/>
          <p:nvPr/>
        </p:nvSpPr>
        <p:spPr>
          <a:xfrm>
            <a:off x="6429604" y="2322576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NAVEGADOR</a:t>
            </a:r>
            <a:endParaRPr lang="en-US" sz="1050" dirty="0"/>
          </a:p>
        </p:txBody>
      </p:sp>
      <p:sp>
        <p:nvSpPr>
          <p:cNvPr id="15" name="texto-106"/>
          <p:cNvSpPr txBox="1"/>
          <p:nvPr/>
        </p:nvSpPr>
        <p:spPr>
          <a:xfrm>
            <a:off x="6429604" y="2578608"/>
            <a:ext cx="2163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Extensión de Chrome</a:t>
            </a:r>
            <a:endParaRPr lang="en-US" sz="1700" dirty="0"/>
          </a:p>
        </p:txBody>
      </p:sp>
      <p:sp>
        <p:nvSpPr>
          <p:cNvPr id="16" name="texto-107"/>
          <p:cNvSpPr txBox="1"/>
          <p:nvPr/>
        </p:nvSpPr>
        <p:spPr>
          <a:xfrm>
            <a:off x="6429604" y="2999232"/>
            <a:ext cx="2163242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Maneja tu navegador con tu sesión: Analytics, webs públicas, sistemas sin conector.</a:t>
            </a:r>
            <a:endParaRPr lang="en-US" sz="1400" dirty="0"/>
          </a:p>
        </p:txBody>
      </p:sp>
      <p:sp>
        <p:nvSpPr>
          <p:cNvPr id="17" name="caja-108"/>
          <p:cNvSpPr/>
          <p:nvPr/>
        </p:nvSpPr>
        <p:spPr>
          <a:xfrm>
            <a:off x="9040901" y="2103120"/>
            <a:ext cx="2602154" cy="1933956"/>
          </a:xfrm>
          <a:prstGeom prst="roundRect">
            <a:avLst>
              <a:gd name="adj" fmla="val 5674"/>
            </a:avLst>
          </a:prstGeom>
          <a:solidFill>
            <a:schemeClr val="bg2"/>
          </a:solidFill>
          <a:ln/>
        </p:spPr>
      </p:sp>
      <p:sp>
        <p:nvSpPr>
          <p:cNvPr id="18" name="texto-109"/>
          <p:cNvSpPr txBox="1"/>
          <p:nvPr/>
        </p:nvSpPr>
        <p:spPr>
          <a:xfrm>
            <a:off x="9260357" y="2322576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SOFTWARE</a:t>
            </a:r>
            <a:endParaRPr lang="en-US" sz="1050" dirty="0"/>
          </a:p>
        </p:txBody>
      </p:sp>
      <p:sp>
        <p:nvSpPr>
          <p:cNvPr id="19" name="texto-110"/>
          <p:cNvSpPr txBox="1"/>
          <p:nvPr/>
        </p:nvSpPr>
        <p:spPr>
          <a:xfrm>
            <a:off x="9260357" y="2578608"/>
            <a:ext cx="2163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Claude Code</a:t>
            </a:r>
            <a:endParaRPr lang="en-US" sz="1700" dirty="0"/>
          </a:p>
        </p:txBody>
      </p:sp>
      <p:sp>
        <p:nvSpPr>
          <p:cNvPr id="20" name="texto-111"/>
          <p:cNvSpPr txBox="1"/>
          <p:nvPr/>
        </p:nvSpPr>
        <p:spPr>
          <a:xfrm>
            <a:off x="9260357" y="2999232"/>
            <a:ext cx="2163242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Hace programas: scripts, apps, webs, tareas programadas y extracción de datos.</a:t>
            </a:r>
            <a:endParaRPr lang="en-US" sz="1400" dirty="0"/>
          </a:p>
        </p:txBody>
      </p:sp>
      <p:sp>
        <p:nvSpPr>
          <p:cNvPr id="21" name="caja-112"/>
          <p:cNvSpPr/>
          <p:nvPr/>
        </p:nvSpPr>
        <p:spPr>
          <a:xfrm>
            <a:off x="548640" y="4265676"/>
            <a:ext cx="2602154" cy="1933956"/>
          </a:xfrm>
          <a:prstGeom prst="roundRect">
            <a:avLst>
              <a:gd name="adj" fmla="val 5674"/>
            </a:avLst>
          </a:prstGeom>
          <a:solidFill>
            <a:schemeClr val="bg2"/>
          </a:solidFill>
          <a:ln/>
        </p:spPr>
      </p:sp>
      <p:sp>
        <p:nvSpPr>
          <p:cNvPr id="22" name="texto-113"/>
          <p:cNvSpPr txBox="1"/>
          <p:nvPr/>
        </p:nvSpPr>
        <p:spPr>
          <a:xfrm>
            <a:off x="768096" y="4485132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LA LLAVE</a:t>
            </a:r>
            <a:endParaRPr lang="en-US" sz="1050" dirty="0"/>
          </a:p>
        </p:txBody>
      </p:sp>
      <p:sp>
        <p:nvSpPr>
          <p:cNvPr id="23" name="texto-114"/>
          <p:cNvSpPr txBox="1"/>
          <p:nvPr/>
        </p:nvSpPr>
        <p:spPr>
          <a:xfrm>
            <a:off x="768096" y="4741164"/>
            <a:ext cx="2163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Conectores y MCP</a:t>
            </a:r>
            <a:endParaRPr lang="en-US" sz="1700" dirty="0"/>
          </a:p>
        </p:txBody>
      </p:sp>
      <p:sp>
        <p:nvSpPr>
          <p:cNvPr id="24" name="texto-115"/>
          <p:cNvSpPr txBox="1"/>
          <p:nvPr/>
        </p:nvSpPr>
        <p:spPr>
          <a:xfrm>
            <a:off x="768096" y="5161788"/>
            <a:ext cx="2163242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Gmail, Calendar, Drive, Slack, bases de datos, Plaud… «El MCP es la llave que conecta las soluciones».</a:t>
            </a:r>
            <a:endParaRPr lang="en-US" sz="1400" dirty="0"/>
          </a:p>
        </p:txBody>
      </p:sp>
      <p:sp>
        <p:nvSpPr>
          <p:cNvPr id="25" name="caja-116"/>
          <p:cNvSpPr/>
          <p:nvPr/>
        </p:nvSpPr>
        <p:spPr>
          <a:xfrm>
            <a:off x="3379394" y="4265676"/>
            <a:ext cx="2602154" cy="1933956"/>
          </a:xfrm>
          <a:prstGeom prst="roundRect">
            <a:avLst>
              <a:gd name="adj" fmla="val 5674"/>
            </a:avLst>
          </a:prstGeom>
          <a:solidFill>
            <a:schemeClr val="bg2"/>
          </a:solidFill>
          <a:ln/>
        </p:spPr>
      </p:sp>
      <p:sp>
        <p:nvSpPr>
          <p:cNvPr id="26" name="texto-117"/>
          <p:cNvSpPr txBox="1"/>
          <p:nvPr/>
        </p:nvSpPr>
        <p:spPr>
          <a:xfrm>
            <a:off x="3598850" y="4485132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CONTEXTO</a:t>
            </a:r>
            <a:endParaRPr lang="en-US" sz="1050" dirty="0"/>
          </a:p>
        </p:txBody>
      </p:sp>
      <p:sp>
        <p:nvSpPr>
          <p:cNvPr id="27" name="texto-118"/>
          <p:cNvSpPr txBox="1"/>
          <p:nvPr/>
        </p:nvSpPr>
        <p:spPr>
          <a:xfrm>
            <a:off x="3598850" y="4741164"/>
            <a:ext cx="2163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Skills</a:t>
            </a:r>
            <a:endParaRPr lang="en-US" sz="1700" dirty="0"/>
          </a:p>
        </p:txBody>
      </p:sp>
      <p:sp>
        <p:nvSpPr>
          <p:cNvPr id="28" name="texto-119"/>
          <p:cNvSpPr txBox="1"/>
          <p:nvPr/>
        </p:nvSpPr>
        <p:spPr>
          <a:xfrm>
            <a:off x="3598850" y="5161788"/>
            <a:ext cx="2163242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Instrucciones e información que no tienes que repetir: tu empresa, tu estilo, tu marca.</a:t>
            </a:r>
            <a:endParaRPr lang="en-US" sz="1400" dirty="0"/>
          </a:p>
        </p:txBody>
      </p:sp>
      <p:sp>
        <p:nvSpPr>
          <p:cNvPr id="29" name="caja-120"/>
          <p:cNvSpPr/>
          <p:nvPr/>
        </p:nvSpPr>
        <p:spPr>
          <a:xfrm>
            <a:off x="6210148" y="4265676"/>
            <a:ext cx="2602154" cy="1933956"/>
          </a:xfrm>
          <a:prstGeom prst="roundRect">
            <a:avLst>
              <a:gd name="adj" fmla="val 5674"/>
            </a:avLst>
          </a:prstGeom>
          <a:solidFill>
            <a:schemeClr val="bg2"/>
          </a:solidFill>
          <a:ln/>
        </p:spPr>
      </p:sp>
      <p:sp>
        <p:nvSpPr>
          <p:cNvPr id="30" name="texto-121"/>
          <p:cNvSpPr txBox="1"/>
          <p:nvPr/>
        </p:nvSpPr>
        <p:spPr>
          <a:xfrm>
            <a:off x="6429604" y="4485132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ORDEN</a:t>
            </a:r>
            <a:endParaRPr lang="en-US" sz="1050" dirty="0"/>
          </a:p>
        </p:txBody>
      </p:sp>
      <p:sp>
        <p:nvSpPr>
          <p:cNvPr id="31" name="texto-122"/>
          <p:cNvSpPr txBox="1"/>
          <p:nvPr/>
        </p:nvSpPr>
        <p:spPr>
          <a:xfrm>
            <a:off x="6429604" y="4741164"/>
            <a:ext cx="2163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Proyectos</a:t>
            </a:r>
            <a:endParaRPr lang="en-US" sz="1700" dirty="0"/>
          </a:p>
        </p:txBody>
      </p:sp>
      <p:sp>
        <p:nvSpPr>
          <p:cNvPr id="32" name="texto-123"/>
          <p:cNvSpPr txBox="1"/>
          <p:nvPr/>
        </p:nvSpPr>
        <p:spPr>
          <a:xfrm>
            <a:off x="6429604" y="5161788"/>
            <a:ext cx="2163242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Una parte concreta de tu trabajo con sus documentos y carpetas.</a:t>
            </a:r>
            <a:endParaRPr lang="en-US" sz="1400" dirty="0"/>
          </a:p>
        </p:txBody>
      </p:sp>
      <p:sp>
        <p:nvSpPr>
          <p:cNvPr id="33" name="caja-124"/>
          <p:cNvSpPr/>
          <p:nvPr/>
        </p:nvSpPr>
        <p:spPr>
          <a:xfrm>
            <a:off x="9040901" y="4265676"/>
            <a:ext cx="2602154" cy="1933956"/>
          </a:xfrm>
          <a:prstGeom prst="roundRect">
            <a:avLst>
              <a:gd name="adj" fmla="val 5674"/>
            </a:avLst>
          </a:prstGeom>
          <a:solidFill>
            <a:schemeClr val="bg2"/>
          </a:solidFill>
          <a:ln/>
        </p:spPr>
      </p:sp>
      <p:sp>
        <p:nvSpPr>
          <p:cNvPr id="34" name="texto-125"/>
          <p:cNvSpPr txBox="1"/>
          <p:nvPr/>
        </p:nvSpPr>
        <p:spPr>
          <a:xfrm>
            <a:off x="9260357" y="4485132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PROTOTIPOS</a:t>
            </a:r>
            <a:endParaRPr lang="en-US" sz="1050" dirty="0"/>
          </a:p>
        </p:txBody>
      </p:sp>
      <p:sp>
        <p:nvSpPr>
          <p:cNvPr id="35" name="texto-126"/>
          <p:cNvSpPr txBox="1"/>
          <p:nvPr/>
        </p:nvSpPr>
        <p:spPr>
          <a:xfrm>
            <a:off x="9260357" y="4741164"/>
            <a:ext cx="2163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Artefactos</a:t>
            </a:r>
            <a:endParaRPr lang="en-US" sz="1700" dirty="0"/>
          </a:p>
        </p:txBody>
      </p:sp>
      <p:sp>
        <p:nvSpPr>
          <p:cNvPr id="36" name="texto-127"/>
          <p:cNvSpPr txBox="1"/>
          <p:nvPr/>
        </p:nvSpPr>
        <p:spPr>
          <a:xfrm>
            <a:off x="9260357" y="5161788"/>
            <a:ext cx="2163242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Páginas interactivas que se pueden compartir por enlace.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EL MAPA DE CLAUDE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Dos grandes partes: Claude y Claude Code</a:t>
            </a:r>
            <a:endParaRPr lang="en-US" sz="3200" dirty="0"/>
          </a:p>
        </p:txBody>
      </p:sp>
      <p:graphicFrame>
        <p:nvGraphicFramePr>
          <p:cNvPr id="8" name="tabla-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109728" marR="109728" marT="82296" marB="8229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4A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4A5466"/>
                          </a:solidFill>
                        </a:rPr>
                        <a:t>CLAUDE (CHAT Y COWORK)</a:t>
                      </a:r>
                      <a:endParaRPr lang="en-US" sz="1100" dirty="0"/>
                    </a:p>
                  </a:txBody>
                  <a:tcPr marL="109728" marR="109728" marT="82296" marB="8229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4A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4A5466"/>
                          </a:solidFill>
                        </a:rPr>
                        <a:t>CLAUDE CODE</a:t>
                      </a:r>
                      <a:endParaRPr lang="en-US" sz="1100" dirty="0"/>
                    </a:p>
                  </a:txBody>
                  <a:tcPr marL="109728" marR="109728" marT="82296" marB="8229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4A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Para qué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Trabajar con tu correo, documentos, navegador y datos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«Hacer puro software»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Ejemplos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Un informe, ordenar el correo, una presentación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Una app propia, un script, una tarea cada mañana, una app de móvil, un CRM con login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Cómo se pide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 tus palabras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Igual: lo que le explicarías a IT se lo explicas a Claude «y que él te lo cree»</a:t>
                      </a:r>
                      <a:endParaRPr lang="en-US" sz="17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o-129"/>
          <p:cNvSpPr txBox="1"/>
          <p:nvPr/>
        </p:nvSpPr>
        <p:spPr>
          <a:xfrm>
            <a:off x="548640" y="48920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«Vais a ver que es casi más complicado pensar qué le puedo pedir que que te lo haga.»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EL MAPA DE CLAUDE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¿Lo hace cada uno o pasa por IT?</a:t>
            </a:r>
            <a:endParaRPr lang="en-US" sz="3200" dirty="0"/>
          </a:p>
        </p:txBody>
      </p:sp>
      <p:sp>
        <p:nvSpPr>
          <p:cNvPr id="4" name="texto-130"/>
          <p:cNvSpPr txBox="1"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Una solución satelital la haces tú. Lo que toca el núcleo de la empresa empieza como prototipo y lo asegura IT.</a:t>
            </a:r>
            <a:endParaRPr lang="en-US" sz="1500" dirty="0"/>
          </a:p>
        </p:txBody>
      </p:sp>
      <p:sp>
        <p:nvSpPr>
          <p:cNvPr id="5" name="caja-131"/>
          <p:cNvSpPr/>
          <p:nvPr/>
        </p:nvSpPr>
        <p:spPr>
          <a:xfrm>
            <a:off x="548640" y="2148840"/>
            <a:ext cx="3423818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6" name="circulo-132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o-133"/>
          <p:cNvSpPr txBox="1"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o-134"/>
          <p:cNvSpPr txBox="1"/>
          <p:nvPr/>
        </p:nvSpPr>
        <p:spPr>
          <a:xfrm>
            <a:off x="822960" y="31089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Soluciones satelitales</a:t>
            </a:r>
            <a:endParaRPr lang="en-US" sz="1900" dirty="0"/>
          </a:p>
        </p:txBody>
      </p:sp>
      <p:sp>
        <p:nvSpPr>
          <p:cNvPr id="9" name="texto-135"/>
          <p:cNvSpPr txBox="1"/>
          <p:nvPr/>
        </p:nvSpPr>
        <p:spPr>
          <a:xfrm>
            <a:off x="822960" y="356616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Son solo para ti o para tu equipo, corren en tu entorno y no tocan los sistemas de la empresa. Las haces tú.</a:t>
            </a:r>
            <a:endParaRPr lang="en-US" sz="1600" dirty="0"/>
          </a:p>
        </p:txBody>
      </p:sp>
      <p:sp>
        <p:nvSpPr>
          <p:cNvPr id="10" name="texto-136"/>
          <p:cNvSpPr txBox="1"/>
          <p:nvPr/>
        </p:nvSpPr>
        <p:spPr>
          <a:xfrm>
            <a:off x="3972458" y="3429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caja-137"/>
          <p:cNvSpPr/>
          <p:nvPr/>
        </p:nvSpPr>
        <p:spPr>
          <a:xfrm>
            <a:off x="4383938" y="2148840"/>
            <a:ext cx="3423818" cy="3017520"/>
          </a:xfrm>
          <a:prstGeom prst="roundRect">
            <a:avLst>
              <a:gd name="adj" fmla="val 3636"/>
            </a:avLst>
          </a:prstGeom>
          <a:solidFill>
            <a:schemeClr val="accent6"/>
          </a:solidFill>
          <a:ln/>
        </p:spPr>
      </p:sp>
      <p:sp>
        <p:nvSpPr>
          <p:cNvPr id="12" name="circulo-138"/>
          <p:cNvSpPr/>
          <p:nvPr/>
        </p:nvSpPr>
        <p:spPr>
          <a:xfrm>
            <a:off x="4658258" y="2423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o-139"/>
          <p:cNvSpPr txBox="1"/>
          <p:nvPr/>
        </p:nvSpPr>
        <p:spPr>
          <a:xfrm>
            <a:off x="4658258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o-140"/>
          <p:cNvSpPr txBox="1"/>
          <p:nvPr/>
        </p:nvSpPr>
        <p:spPr>
          <a:xfrm>
            <a:off x="4658258" y="31089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Si es del núcleo</a:t>
            </a:r>
            <a:endParaRPr lang="en-US" sz="1900" dirty="0"/>
          </a:p>
        </p:txBody>
      </p:sp>
      <p:sp>
        <p:nvSpPr>
          <p:cNvPr id="15" name="texto-141"/>
          <p:cNvSpPr txBox="1"/>
          <p:nvPr/>
        </p:nvSpPr>
        <p:spPr>
          <a:xfrm>
            <a:off x="4658258" y="356616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Haz un prototipo (MVP) y llévaselo a IT: «me hace falta un software de calendario y quiero que sea como este».</a:t>
            </a:r>
            <a:endParaRPr lang="en-US" sz="1600" dirty="0"/>
          </a:p>
        </p:txBody>
      </p:sp>
      <p:sp>
        <p:nvSpPr>
          <p:cNvPr id="16" name="texto-142"/>
          <p:cNvSpPr txBox="1"/>
          <p:nvPr/>
        </p:nvSpPr>
        <p:spPr>
          <a:xfrm>
            <a:off x="7807757" y="3429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caja-143"/>
          <p:cNvSpPr/>
          <p:nvPr/>
        </p:nvSpPr>
        <p:spPr>
          <a:xfrm>
            <a:off x="8219237" y="2148840"/>
            <a:ext cx="3423818" cy="301752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/>
        </p:spPr>
      </p:sp>
      <p:sp>
        <p:nvSpPr>
          <p:cNvPr id="18" name="circulo-144"/>
          <p:cNvSpPr/>
          <p:nvPr/>
        </p:nvSpPr>
        <p:spPr>
          <a:xfrm>
            <a:off x="8493557" y="242316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9" name="texto-145"/>
          <p:cNvSpPr txBox="1"/>
          <p:nvPr/>
        </p:nvSpPr>
        <p:spPr>
          <a:xfrm>
            <a:off x="8493557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o-146"/>
          <p:cNvSpPr txBox="1"/>
          <p:nvPr/>
        </p:nvSpPr>
        <p:spPr>
          <a:xfrm>
            <a:off x="8493557" y="31089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Para producción</a:t>
            </a:r>
            <a:endParaRPr lang="en-US" sz="1900" dirty="0"/>
          </a:p>
        </p:txBody>
      </p:sp>
      <p:sp>
        <p:nvSpPr>
          <p:cNvPr id="21" name="texto-147"/>
          <p:cNvSpPr txBox="1"/>
          <p:nvPr/>
        </p:nvSpPr>
        <p:spPr>
          <a:xfrm>
            <a:off x="8493557" y="356616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IT lo asegura contra el servicio o la API que toque. «100 %» se puede: los equipos grandes de IT ya trabajan así y revisan el código creado.</a:t>
            </a:r>
            <a:endParaRPr lang="en-US" sz="1600" dirty="0"/>
          </a:p>
        </p:txBody>
      </p:sp>
      <p:sp>
        <p:nvSpPr>
          <p:cNvPr id="22" name="caja-148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3" name="texto-149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¿Tu empresa no te deja conectar la información? Habla con IT, explícale bien tu objetivo y pide los accesos que necesitas (acceso remoto o VPN). «El desconocimiento crea miedo», dijo un asistente: conocer lo que hacen otras compañías ayuda a pedirlo bien.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EL MAPA DE CLAUDE</a:t>
            </a:r>
            <a:endParaRPr lang="en-US" sz="1200" dirty="0"/>
          </a:p>
        </p:txBody>
      </p:sp>
      <p:sp>
        <p:nvSpPr>
          <p:cNvPr id="3" name="texto-150"/>
          <p:cNvSpPr txBox="1"/>
          <p:nvPr/>
        </p:nvSpPr>
        <p:spPr>
          <a:xfrm>
            <a:off x="914400" y="118872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«Cuando tenemos los conectores, la extensión de Chrome, las skills, los repositorios conectados y acceso a Internet, realmente tenemos el cerebro de nuestro negocio.»</a:t>
            </a:r>
            <a:endParaRPr lang="en-US" sz="3000" dirty="0"/>
          </a:p>
        </p:txBody>
      </p:sp>
      <p:sp>
        <p:nvSpPr>
          <p:cNvPr id="4" name="texto-151"/>
          <p:cNvSpPr txBox="1"/>
          <p:nvPr/>
        </p:nvSpPr>
        <p:spPr>
          <a:xfrm>
            <a:off x="91440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5" name="texto-152"/>
          <p:cNvSpPr txBox="1"/>
          <p:nvPr/>
        </p:nvSpPr>
        <p:spPr>
          <a:xfrm>
            <a:off x="914400" y="4343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Con ese cerebro se puede hacer cualquier informe, documento o aplicación con la información de la compañía. Por ejemplo, un plan de marketing que va solo a la carpeta de promociones y a la base de datos de producto.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EL MAPA DE CLAUDE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 oficio que no es el tuyo, con un prompt</a:t>
            </a:r>
            <a:endParaRPr lang="en-US" sz="3200" dirty="0"/>
          </a:p>
        </p:txBody>
      </p:sp>
      <p:sp>
        <p:nvSpPr>
          <p:cNvPr id="4" name="texto-153"/>
          <p:cNvSpPr txBox="1"/>
          <p:nvPr/>
        </p:nvSpPr>
        <p:spPr>
          <a:xfrm>
            <a:off x="548640" y="14813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«Ya no hay expertos en la temática, sino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cómo le pido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 a la tecnología desarrollar una solución».</a:t>
            </a:r>
            <a:endParaRPr lang="en-US" sz="1600" dirty="0"/>
          </a:p>
        </p:txBody>
      </p:sp>
      <p:sp>
        <p:nvSpPr>
          <p:cNvPr id="5" name="caja-154"/>
          <p:cNvSpPr/>
          <p:nvPr/>
        </p:nvSpPr>
        <p:spPr>
          <a:xfrm>
            <a:off x="548640" y="205740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FBF4EF"/>
          </a:solidFill>
          <a:ln/>
        </p:spPr>
      </p:sp>
      <p:sp>
        <p:nvSpPr>
          <p:cNvPr id="6" name="texto-155"/>
          <p:cNvSpPr txBox="1"/>
          <p:nvPr/>
        </p:nvSpPr>
        <p:spPr>
          <a:xfrm>
            <a:off x="768096" y="224028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Contable</a:t>
            </a:r>
            <a:endParaRPr lang="en-US" sz="1700" dirty="0"/>
          </a:p>
        </p:txBody>
      </p:sp>
      <p:sp>
        <p:nvSpPr>
          <p:cNvPr id="7" name="texto-156"/>
          <p:cNvSpPr txBox="1"/>
          <p:nvPr/>
        </p:nvSpPr>
        <p:spPr>
          <a:xfrm>
            <a:off x="768096" y="2642616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Cruza los apuntes de este Excel con los extractos del banco que te adjunto, dime qué no cuadra y prepárame una tabla con las diferencias.</a:t>
            </a:r>
            <a:endParaRPr lang="en-US" sz="1300" dirty="0"/>
          </a:p>
        </p:txBody>
      </p:sp>
      <p:sp>
        <p:nvSpPr>
          <p:cNvPr id="8" name="caja-157"/>
          <p:cNvSpPr/>
          <p:nvPr/>
        </p:nvSpPr>
        <p:spPr>
          <a:xfrm>
            <a:off x="4322978" y="205740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FBF4EF"/>
          </a:solidFill>
          <a:ln/>
        </p:spPr>
      </p:sp>
      <p:sp>
        <p:nvSpPr>
          <p:cNvPr id="9" name="texto-158"/>
          <p:cNvSpPr txBox="1"/>
          <p:nvPr/>
        </p:nvSpPr>
        <p:spPr>
          <a:xfrm>
            <a:off x="4542434" y="224028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Asistente</a:t>
            </a:r>
            <a:endParaRPr lang="en-US" sz="1700" dirty="0"/>
          </a:p>
        </p:txBody>
      </p:sp>
      <p:sp>
        <p:nvSpPr>
          <p:cNvPr id="10" name="texto-159"/>
          <p:cNvSpPr txBox="1"/>
          <p:nvPr/>
        </p:nvSpPr>
        <p:spPr>
          <a:xfrm>
            <a:off x="4542434" y="2642616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Revisa mi correo y mi calendario de la próxima semana, dime qué reuniones chocan y prepárame un borrador para moverlas.</a:t>
            </a:r>
            <a:endParaRPr lang="en-US" sz="1300" dirty="0"/>
          </a:p>
        </p:txBody>
      </p:sp>
      <p:sp>
        <p:nvSpPr>
          <p:cNvPr id="11" name="caja-160"/>
          <p:cNvSpPr/>
          <p:nvPr/>
        </p:nvSpPr>
        <p:spPr>
          <a:xfrm>
            <a:off x="8097317" y="205740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FBF4EF"/>
          </a:solidFill>
          <a:ln/>
        </p:spPr>
      </p:sp>
      <p:sp>
        <p:nvSpPr>
          <p:cNvPr id="12" name="texto-161"/>
          <p:cNvSpPr txBox="1"/>
          <p:nvPr/>
        </p:nvSpPr>
        <p:spPr>
          <a:xfrm>
            <a:off x="8316773" y="224028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Analista de negocio</a:t>
            </a:r>
            <a:endParaRPr lang="en-US" sz="1700" dirty="0"/>
          </a:p>
        </p:txBody>
      </p:sp>
      <p:sp>
        <p:nvSpPr>
          <p:cNvPr id="13" name="texto-162"/>
          <p:cNvSpPr txBox="1"/>
          <p:nvPr/>
        </p:nvSpPr>
        <p:spPr>
          <a:xfrm>
            <a:off x="8316773" y="2642616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los datos de ventas de esta carpeta, dime qué productos crecen, cuáles caen y por qué, en un informe de una página.</a:t>
            </a:r>
            <a:endParaRPr lang="en-US" sz="1300" dirty="0"/>
          </a:p>
        </p:txBody>
      </p:sp>
      <p:sp>
        <p:nvSpPr>
          <p:cNvPr id="14" name="caja-163"/>
          <p:cNvSpPr/>
          <p:nvPr/>
        </p:nvSpPr>
        <p:spPr>
          <a:xfrm>
            <a:off x="548640" y="397764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FBF4EF"/>
          </a:solidFill>
          <a:ln/>
        </p:spPr>
      </p:sp>
      <p:sp>
        <p:nvSpPr>
          <p:cNvPr id="15" name="texto-164"/>
          <p:cNvSpPr txBox="1"/>
          <p:nvPr/>
        </p:nvSpPr>
        <p:spPr>
          <a:xfrm>
            <a:off x="768096" y="416052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Back office</a:t>
            </a:r>
            <a:endParaRPr lang="en-US" sz="1700" dirty="0"/>
          </a:p>
        </p:txBody>
      </p:sp>
      <p:sp>
        <p:nvSpPr>
          <p:cNvPr id="16" name="texto-165"/>
          <p:cNvSpPr txBox="1"/>
          <p:nvPr/>
        </p:nvSpPr>
        <p:spPr>
          <a:xfrm>
            <a:off x="768096" y="4562856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 40 PDF de pedidos. Sácame en un Excel el número de pedido, cliente, importe y fecha de entrega.</a:t>
            </a:r>
            <a:endParaRPr lang="en-US" sz="1300" dirty="0"/>
          </a:p>
        </p:txBody>
      </p:sp>
      <p:sp>
        <p:nvSpPr>
          <p:cNvPr id="17" name="caja-166"/>
          <p:cNvSpPr/>
          <p:nvPr/>
        </p:nvSpPr>
        <p:spPr>
          <a:xfrm>
            <a:off x="4322978" y="397764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FBF4EF"/>
          </a:solidFill>
          <a:ln/>
        </p:spPr>
      </p:sp>
      <p:sp>
        <p:nvSpPr>
          <p:cNvPr id="18" name="texto-167"/>
          <p:cNvSpPr txBox="1"/>
          <p:nvPr/>
        </p:nvSpPr>
        <p:spPr>
          <a:xfrm>
            <a:off x="4542434" y="416052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Jefe de proyectos</a:t>
            </a:r>
            <a:endParaRPr lang="en-US" sz="1700" dirty="0"/>
          </a:p>
        </p:txBody>
      </p:sp>
      <p:sp>
        <p:nvSpPr>
          <p:cNvPr id="19" name="texto-168"/>
          <p:cNvSpPr txBox="1"/>
          <p:nvPr/>
        </p:nvSpPr>
        <p:spPr>
          <a:xfrm>
            <a:off x="4542434" y="4562856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las actas de estas reuniones, hazme un plan con tareas, responsables y fechas, y dime qué compromisos se han quedado sin hacer.</a:t>
            </a:r>
            <a:endParaRPr lang="en-US" sz="1300" dirty="0"/>
          </a:p>
        </p:txBody>
      </p:sp>
      <p:sp>
        <p:nvSpPr>
          <p:cNvPr id="20" name="caja-169"/>
          <p:cNvSpPr/>
          <p:nvPr/>
        </p:nvSpPr>
        <p:spPr>
          <a:xfrm>
            <a:off x="8097317" y="397764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FBF4EF"/>
          </a:solidFill>
          <a:ln/>
        </p:spPr>
      </p:sp>
      <p:sp>
        <p:nvSpPr>
          <p:cNvPr id="21" name="texto-170"/>
          <p:cNvSpPr txBox="1"/>
          <p:nvPr/>
        </p:nvSpPr>
        <p:spPr>
          <a:xfrm>
            <a:off x="8316773" y="4160520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Apoyo jurídico</a:t>
            </a:r>
            <a:endParaRPr lang="en-US" sz="1700" dirty="0"/>
          </a:p>
        </p:txBody>
      </p:sp>
      <p:sp>
        <p:nvSpPr>
          <p:cNvPr id="22" name="texto-171"/>
          <p:cNvSpPr txBox="1"/>
          <p:nvPr/>
        </p:nvSpPr>
        <p:spPr>
          <a:xfrm>
            <a:off x="8316773" y="4562856"/>
            <a:ext cx="31068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 este contrato en una página, señala las cláusulas de riesgo y dime qué preguntaría a un abogado.</a:t>
            </a:r>
            <a:endParaRPr lang="en-US" sz="1300" dirty="0"/>
          </a:p>
        </p:txBody>
      </p:sp>
      <p:sp>
        <p:nvSpPr>
          <p:cNvPr id="23" name="texto-172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En la sala se vio una diapositiva con 37 oficios («podrían ser 57»). No va de despidos: va de apoyarte en un oficio que no es el tuyo. Estos prompts son ejemplos nuestros; en la web hay 12.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Modelos y planes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Qué modelo usar, qué plan contratar y cómo hemos llegado aquí.</a:t>
            </a:r>
            <a:endParaRPr lang="en-US" sz="1700" dirty="0"/>
          </a:p>
        </p:txBody>
      </p:sp>
      <p:pic>
        <p:nvPicPr>
          <p:cNvPr id="5" name="foto-173" descr="Modelos y pla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· MODELOS Y PLANES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Los modelos</a:t>
            </a:r>
            <a:endParaRPr lang="en-US" sz="3200" dirty="0"/>
          </a:p>
        </p:txBody>
      </p:sp>
      <p:sp>
        <p:nvSpPr>
          <p:cNvPr id="4" name="texto-174"/>
          <p:cNvSpPr txBox="1"/>
          <p:nvPr/>
        </p:nvSpPr>
        <p:spPr>
          <a:xfrm>
            <a:off x="548640" y="1463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«En Opus tenéis un doctorado, y en Fable, un doctorado experto que le dedica tiempo.»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5" name="caja-175"/>
          <p:cNvSpPr/>
          <p:nvPr/>
        </p:nvSpPr>
        <p:spPr>
          <a:xfrm>
            <a:off x="548640" y="2331720"/>
            <a:ext cx="260215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6" name="texto-176"/>
          <p:cNvSpPr txBox="1"/>
          <p:nvPr/>
        </p:nvSpPr>
        <p:spPr>
          <a:xfrm>
            <a:off x="768096" y="2551176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EL MÁS LIGERO</a:t>
            </a:r>
            <a:endParaRPr lang="en-US" sz="1050" dirty="0"/>
          </a:p>
        </p:txBody>
      </p:sp>
      <p:sp>
        <p:nvSpPr>
          <p:cNvPr id="7" name="texto-177"/>
          <p:cNvSpPr txBox="1"/>
          <p:nvPr/>
        </p:nvSpPr>
        <p:spPr>
          <a:xfrm>
            <a:off x="768096" y="2807208"/>
            <a:ext cx="2163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Haiku</a:t>
            </a:r>
            <a:endParaRPr lang="en-US" sz="2400" dirty="0"/>
          </a:p>
        </p:txBody>
      </p:sp>
      <p:sp>
        <p:nvSpPr>
          <p:cNvPr id="8" name="texto-178"/>
          <p:cNvSpPr txBox="1"/>
          <p:nvPr/>
        </p:nvSpPr>
        <p:spPr>
          <a:xfrm>
            <a:off x="768096" y="3300984"/>
            <a:ext cx="216324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Rápido y barato, para tareas sencillas.</a:t>
            </a:r>
            <a:endParaRPr lang="en-US" sz="1450" dirty="0"/>
          </a:p>
        </p:txBody>
      </p:sp>
      <p:sp>
        <p:nvSpPr>
          <p:cNvPr id="9" name="caja-179"/>
          <p:cNvSpPr/>
          <p:nvPr/>
        </p:nvSpPr>
        <p:spPr>
          <a:xfrm>
            <a:off x="3379394" y="2331720"/>
            <a:ext cx="2602154" cy="2240280"/>
          </a:xfrm>
          <a:prstGeom prst="roundRect">
            <a:avLst>
              <a:gd name="adj" fmla="val 4898"/>
            </a:avLst>
          </a:prstGeom>
          <a:solidFill>
            <a:schemeClr val="accent6"/>
          </a:solidFill>
          <a:ln/>
        </p:spPr>
      </p:sp>
      <p:sp>
        <p:nvSpPr>
          <p:cNvPr id="10" name="texto-180"/>
          <p:cNvSpPr txBox="1"/>
          <p:nvPr/>
        </p:nvSpPr>
        <p:spPr>
          <a:xfrm>
            <a:off x="3598850" y="2551176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INTERMEDIO</a:t>
            </a:r>
            <a:endParaRPr lang="en-US" sz="1050" dirty="0"/>
          </a:p>
        </p:txBody>
      </p:sp>
      <p:sp>
        <p:nvSpPr>
          <p:cNvPr id="11" name="texto-181"/>
          <p:cNvSpPr txBox="1"/>
          <p:nvPr/>
        </p:nvSpPr>
        <p:spPr>
          <a:xfrm>
            <a:off x="3598850" y="2807208"/>
            <a:ext cx="2163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Sonnet</a:t>
            </a:r>
            <a:endParaRPr lang="en-US" sz="2400" dirty="0"/>
          </a:p>
        </p:txBody>
      </p:sp>
      <p:sp>
        <p:nvSpPr>
          <p:cNvPr id="12" name="texto-182"/>
          <p:cNvSpPr txBox="1"/>
          <p:nvPr/>
        </p:nvSpPr>
        <p:spPr>
          <a:xfrm>
            <a:off x="3598850" y="3300984"/>
            <a:ext cx="216324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Buen equilibrio para el trabajo diario.</a:t>
            </a:r>
            <a:endParaRPr lang="en-US" sz="1450" dirty="0"/>
          </a:p>
        </p:txBody>
      </p:sp>
      <p:sp>
        <p:nvSpPr>
          <p:cNvPr id="13" name="caja-183"/>
          <p:cNvSpPr/>
          <p:nvPr/>
        </p:nvSpPr>
        <p:spPr>
          <a:xfrm>
            <a:off x="6210148" y="2331720"/>
            <a:ext cx="2602154" cy="2240280"/>
          </a:xfrm>
          <a:prstGeom prst="roundRect">
            <a:avLst>
              <a:gd name="adj" fmla="val 4898"/>
            </a:avLst>
          </a:prstGeom>
          <a:solidFill>
            <a:schemeClr val="accent1"/>
          </a:solidFill>
          <a:ln/>
        </p:spPr>
      </p:sp>
      <p:sp>
        <p:nvSpPr>
          <p:cNvPr id="14" name="texto-184"/>
          <p:cNvSpPr txBox="1"/>
          <p:nvPr/>
        </p:nvSpPr>
        <p:spPr>
          <a:xfrm>
            <a:off x="6429604" y="2551176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3"/>
                </a:solidFill>
              </a:rPr>
              <a:t>«UN DOCTORADO»</a:t>
            </a:r>
            <a:endParaRPr lang="en-US" sz="1050" dirty="0"/>
          </a:p>
        </p:txBody>
      </p:sp>
      <p:sp>
        <p:nvSpPr>
          <p:cNvPr id="15" name="texto-185"/>
          <p:cNvSpPr txBox="1"/>
          <p:nvPr/>
        </p:nvSpPr>
        <p:spPr>
          <a:xfrm>
            <a:off x="6429604" y="2807208"/>
            <a:ext cx="2163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Opus</a:t>
            </a:r>
            <a:endParaRPr lang="en-US" sz="2400" dirty="0"/>
          </a:p>
        </p:txBody>
      </p:sp>
      <p:sp>
        <p:nvSpPr>
          <p:cNvPr id="16" name="texto-186"/>
          <p:cNvSpPr txBox="1"/>
          <p:nvPr/>
        </p:nvSpPr>
        <p:spPr>
          <a:xfrm>
            <a:off x="6429604" y="3300984"/>
            <a:ext cx="216324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bg1"/>
                </a:solidFill>
              </a:rPr>
              <a:t>El de uso diario de los formadores, con el plan de 100. «Es más inteligente y por eso entiende mejor lo que quieres decir».</a:t>
            </a:r>
            <a:endParaRPr lang="en-US" sz="1450" dirty="0"/>
          </a:p>
        </p:txBody>
      </p:sp>
      <p:sp>
        <p:nvSpPr>
          <p:cNvPr id="17" name="caja-187"/>
          <p:cNvSpPr/>
          <p:nvPr/>
        </p:nvSpPr>
        <p:spPr>
          <a:xfrm>
            <a:off x="9040901" y="2331720"/>
            <a:ext cx="2602154" cy="2240280"/>
          </a:xfrm>
          <a:prstGeom prst="roundRect">
            <a:avLst>
              <a:gd name="adj" fmla="val 4898"/>
            </a:avLst>
          </a:prstGeom>
          <a:solidFill>
            <a:schemeClr val="tx1"/>
          </a:solidFill>
          <a:ln/>
        </p:spPr>
      </p:sp>
      <p:sp>
        <p:nvSpPr>
          <p:cNvPr id="18" name="texto-188"/>
          <p:cNvSpPr txBox="1"/>
          <p:nvPr/>
        </p:nvSpPr>
        <p:spPr>
          <a:xfrm>
            <a:off x="9260357" y="2551176"/>
            <a:ext cx="2163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3"/>
                </a:solidFill>
              </a:rPr>
              <a:t>«DOCTORADO EXPERTO»</a:t>
            </a:r>
            <a:endParaRPr lang="en-US" sz="1050" dirty="0"/>
          </a:p>
        </p:txBody>
      </p:sp>
      <p:sp>
        <p:nvSpPr>
          <p:cNvPr id="19" name="texto-189"/>
          <p:cNvSpPr txBox="1"/>
          <p:nvPr/>
        </p:nvSpPr>
        <p:spPr>
          <a:xfrm>
            <a:off x="9260357" y="2807208"/>
            <a:ext cx="2163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Fable</a:t>
            </a:r>
            <a:endParaRPr lang="en-US" sz="2400" dirty="0"/>
          </a:p>
        </p:txBody>
      </p:sp>
      <p:sp>
        <p:nvSpPr>
          <p:cNvPr id="20" name="texto-190"/>
          <p:cNvSpPr txBox="1"/>
          <p:nvPr/>
        </p:nvSpPr>
        <p:spPr>
          <a:xfrm>
            <a:off x="9260357" y="3300984"/>
            <a:ext cx="216324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bg1"/>
                </a:solidFill>
              </a:rPr>
              <a:t>Para lo muy exigente: un cálculo estructural o una consulta médica compleja. «Ahí sí que te funden los tokens».</a:t>
            </a:r>
            <a:endParaRPr lang="en-US" sz="1450" dirty="0"/>
          </a:p>
        </p:txBody>
      </p:sp>
      <p:sp>
        <p:nvSpPr>
          <p:cNvPr id="21" name="texto-191"/>
          <p:cNvSpPr txBox="1"/>
          <p:nvPr/>
        </p:nvSpPr>
        <p:spPr>
          <a:xfrm>
            <a:off x="548640" y="464515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5"/>
                </a:solidFill>
              </a:rPr>
              <a:t>DEL MÁS LIGERO AL MÁS POTENTE  →</a:t>
            </a:r>
            <a:endParaRPr lang="en-US" sz="1050" dirty="0"/>
          </a:p>
        </p:txBody>
      </p:sp>
      <p:sp>
        <p:nvSpPr>
          <p:cNvPr id="22" name="texto-192"/>
          <p:cNvSpPr txBox="1"/>
          <p:nvPr/>
        </p:nvSpPr>
        <p:spPr>
          <a:xfrm>
            <a:off x="548640" y="4983480"/>
            <a:ext cx="35457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Las tareas largas gastan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Una tarea que tarda sigue gastando tokens «por detrás».</a:t>
            </a:r>
            <a:endParaRPr lang="en-US" sz="1400" dirty="0"/>
          </a:p>
        </p:txBody>
      </p:sp>
      <p:sp>
        <p:nvSpPr>
          <p:cNvPr id="23" name="texto-193"/>
          <p:cNvSpPr txBox="1"/>
          <p:nvPr/>
        </p:nvSpPr>
        <p:spPr>
          <a:xfrm>
            <a:off x="4322978" y="4983480"/>
            <a:ext cx="35457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Fable, con cabeza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Úsalo solo para lo más exigente. Para el día a día, Opus «es más que suficiente».</a:t>
            </a:r>
            <a:endParaRPr lang="en-US" sz="1400" dirty="0"/>
          </a:p>
        </p:txBody>
      </p:sp>
      <p:sp>
        <p:nvSpPr>
          <p:cNvPr id="24" name="texto-194"/>
          <p:cNvSpPr txBox="1"/>
          <p:nvPr/>
        </p:nvSpPr>
        <p:spPr>
          <a:xfrm>
            <a:off x="8097317" y="4983480"/>
            <a:ext cx="35457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¿Y Copilot?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Según Rubén, incorporará los modelos de frontera. Lo de dónde se guardan los datos (en Europa) quedó en el aire.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· MODELOS Y PLANES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¿Qué modelo y qué plan?</a:t>
            </a:r>
            <a:endParaRPr lang="en-US" sz="3200" dirty="0"/>
          </a:p>
        </p:txBody>
      </p:sp>
      <p:graphicFrame>
        <p:nvGraphicFramePr>
          <p:cNvPr id="14" name="tabla-1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828800"/>
                <a:gridCol w="4142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4A5466"/>
                          </a:solidFill>
                        </a:rPr>
                        <a:t>SI VAS A…</a:t>
                      </a:r>
                      <a:endParaRPr lang="en-US" sz="1100" dirty="0"/>
                    </a:p>
                  </a:txBody>
                  <a:tcPr marL="109728" marR="109728" marT="82296" marB="8229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4A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4A5466"/>
                          </a:solidFill>
                        </a:rPr>
                        <a:t>MODELO</a:t>
                      </a:r>
                      <a:endParaRPr lang="en-US" sz="1100" dirty="0"/>
                    </a:p>
                  </a:txBody>
                  <a:tcPr marL="109728" marR="109728" marT="82296" marB="8229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4A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4A5466"/>
                          </a:solidFill>
                        </a:rPr>
                        <a:t>PLAN</a:t>
                      </a:r>
                      <a:endParaRPr lang="en-US" sz="1100" dirty="0"/>
                    </a:p>
                  </a:txBody>
                  <a:tcPr marL="109728" marR="109728" marT="82296" marB="8229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4A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Correo, resúmenes y documentos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Opus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100 € (con 20 «estás frito»)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Informes, análisis y consultoría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Opus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100 €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Programar apps y tareas con Claude Code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Opus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100 €, o 200-300 € si es todo el día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Cálculo muy exigente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Fable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200-300 €</a:t>
                      </a:r>
                      <a:endParaRPr lang="en-US" sz="160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ja-196"/>
          <p:cNvSpPr/>
          <p:nvPr/>
        </p:nvSpPr>
        <p:spPr>
          <a:xfrm>
            <a:off x="548640" y="3931920"/>
            <a:ext cx="3545738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6" name="texto-197"/>
          <p:cNvSpPr txBox="1"/>
          <p:nvPr/>
        </p:nvSpPr>
        <p:spPr>
          <a:xfrm>
            <a:off x="804672" y="4096512"/>
            <a:ext cx="30336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20 €</a:t>
            </a:r>
            <a:endParaRPr lang="en-US" sz="3200" dirty="0"/>
          </a:p>
        </p:txBody>
      </p:sp>
      <p:sp>
        <p:nvSpPr>
          <p:cNvPr id="7" name="texto-198"/>
          <p:cNvSpPr txBox="1"/>
          <p:nvPr/>
        </p:nvSpPr>
        <p:spPr>
          <a:xfrm>
            <a:off x="804672" y="4736592"/>
            <a:ext cx="30336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«Con la cuenta de 20 estás frito, no eres capaz de trabajar».</a:t>
            </a:r>
            <a:endParaRPr lang="en-US" sz="1500" dirty="0"/>
          </a:p>
        </p:txBody>
      </p:sp>
      <p:sp>
        <p:nvSpPr>
          <p:cNvPr id="8" name="caja-199"/>
          <p:cNvSpPr/>
          <p:nvPr/>
        </p:nvSpPr>
        <p:spPr>
          <a:xfrm>
            <a:off x="4322978" y="3931920"/>
            <a:ext cx="3545738" cy="16916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/>
        </p:spPr>
      </p:sp>
      <p:sp>
        <p:nvSpPr>
          <p:cNvPr id="9" name="texto-200"/>
          <p:cNvSpPr txBox="1"/>
          <p:nvPr/>
        </p:nvSpPr>
        <p:spPr>
          <a:xfrm>
            <a:off x="4579010" y="4096512"/>
            <a:ext cx="30336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100 €</a:t>
            </a:r>
            <a:endParaRPr lang="en-US" sz="3200" dirty="0"/>
          </a:p>
        </p:txBody>
      </p:sp>
      <p:sp>
        <p:nvSpPr>
          <p:cNvPr id="10" name="texto-201"/>
          <p:cNvSpPr txBox="1"/>
          <p:nvPr/>
        </p:nvSpPr>
        <p:spPr>
          <a:xfrm>
            <a:off x="4579010" y="4736592"/>
            <a:ext cx="30336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«Casi tarifa plana» con Opus: «ahí no vais a tener miedo de hacer nada».</a:t>
            </a:r>
            <a:endParaRPr lang="en-US" sz="1500" dirty="0"/>
          </a:p>
        </p:txBody>
      </p:sp>
      <p:sp>
        <p:nvSpPr>
          <p:cNvPr id="11" name="caja-202"/>
          <p:cNvSpPr/>
          <p:nvPr/>
        </p:nvSpPr>
        <p:spPr>
          <a:xfrm>
            <a:off x="8097317" y="3931920"/>
            <a:ext cx="3545738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2" name="texto-203"/>
          <p:cNvSpPr txBox="1"/>
          <p:nvPr/>
        </p:nvSpPr>
        <p:spPr>
          <a:xfrm>
            <a:off x="8353349" y="4096512"/>
            <a:ext cx="30336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200-300 €</a:t>
            </a:r>
            <a:endParaRPr lang="en-US" sz="3200" dirty="0"/>
          </a:p>
        </p:txBody>
      </p:sp>
      <p:sp>
        <p:nvSpPr>
          <p:cNvPr id="13" name="texto-204"/>
          <p:cNvSpPr txBox="1"/>
          <p:nvPr/>
        </p:nvSpPr>
        <p:spPr>
          <a:xfrm>
            <a:off x="8353349" y="4736592"/>
            <a:ext cx="30336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 más profesional, para un uso muy intensivo.</a:t>
            </a:r>
            <a:endParaRPr lang="en-US" sz="1500" dirty="0"/>
          </a:p>
        </p:txBody>
      </p:sp>
      <p:sp>
        <p:nvSpPr>
          <p:cNvPr id="14" name="texto-205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Precios y planes dichos en la sesión, sin comprobar. Consulta la tarifa vigente antes de contratar.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· MODELOS Y PLANES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Cómo hemos llegado aquí</a:t>
            </a:r>
            <a:endParaRPr lang="en-US" sz="3200" dirty="0"/>
          </a:p>
        </p:txBody>
      </p:sp>
      <p:sp>
        <p:nvSpPr>
          <p:cNvPr id="4" name="linea-tiempo"/>
          <p:cNvSpPr/>
          <p:nvPr/>
        </p:nvSpPr>
        <p:spPr>
          <a:xfrm>
            <a:off x="1658082" y="2514600"/>
            <a:ext cx="8875532" cy="0"/>
          </a:xfrm>
          <a:prstGeom prst="line">
            <a:avLst/>
          </a:prstGeom>
          <a:noFill/>
          <a:ln w="25400">
            <a:solidFill>
              <a:srgbClr val="004A98"/>
            </a:solidFill>
            <a:prstDash val="solid"/>
          </a:ln>
        </p:spPr>
      </p:sp>
      <p:sp>
        <p:nvSpPr>
          <p:cNvPr id="5" name="texto-206"/>
          <p:cNvSpPr txBox="1"/>
          <p:nvPr/>
        </p:nvSpPr>
        <p:spPr>
          <a:xfrm>
            <a:off x="640080" y="182880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Feb 2025</a:t>
            </a:r>
            <a:endParaRPr lang="en-US" sz="1400" dirty="0"/>
          </a:p>
        </p:txBody>
      </p:sp>
      <p:sp>
        <p:nvSpPr>
          <p:cNvPr id="6" name="hito-207"/>
          <p:cNvSpPr/>
          <p:nvPr/>
        </p:nvSpPr>
        <p:spPr>
          <a:xfrm>
            <a:off x="1520922" y="23774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o-208"/>
          <p:cNvSpPr txBox="1"/>
          <p:nvPr/>
        </p:nvSpPr>
        <p:spPr>
          <a:xfrm>
            <a:off x="658368" y="2834640"/>
            <a:ext cx="19994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Sale Claude Code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«Casi como una aplicación tipo ChatGPT».</a:t>
            </a:r>
            <a:endParaRPr lang="en-US" sz="1400" dirty="0"/>
          </a:p>
        </p:txBody>
      </p:sp>
      <p:sp>
        <p:nvSpPr>
          <p:cNvPr id="8" name="texto-209"/>
          <p:cNvSpPr txBox="1"/>
          <p:nvPr/>
        </p:nvSpPr>
        <p:spPr>
          <a:xfrm>
            <a:off x="2858963" y="182880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2T 2026</a:t>
            </a:r>
            <a:endParaRPr lang="en-US" sz="1400" dirty="0"/>
          </a:p>
        </p:txBody>
      </p:sp>
      <p:sp>
        <p:nvSpPr>
          <p:cNvPr id="9" name="hito-210"/>
          <p:cNvSpPr/>
          <p:nvPr/>
        </p:nvSpPr>
        <p:spPr>
          <a:xfrm>
            <a:off x="3739805" y="23774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o-211"/>
          <p:cNvSpPr txBox="1"/>
          <p:nvPr/>
        </p:nvSpPr>
        <p:spPr>
          <a:xfrm>
            <a:off x="2877251" y="2834640"/>
            <a:ext cx="19994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Uso masivo en Aurgi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Llevaban unos cuatro meses con ello, quitando el verano.</a:t>
            </a:r>
            <a:endParaRPr lang="en-US" sz="1400" dirty="0"/>
          </a:p>
        </p:txBody>
      </p:sp>
      <p:sp>
        <p:nvSpPr>
          <p:cNvPr id="11" name="texto-212"/>
          <p:cNvSpPr txBox="1"/>
          <p:nvPr/>
        </p:nvSpPr>
        <p:spPr>
          <a:xfrm>
            <a:off x="5077846" y="182880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Jul 2026</a:t>
            </a:r>
            <a:endParaRPr lang="en-US" sz="1400" dirty="0"/>
          </a:p>
        </p:txBody>
      </p:sp>
      <p:sp>
        <p:nvSpPr>
          <p:cNvPr id="12" name="hito-213"/>
          <p:cNvSpPr/>
          <p:nvPr/>
        </p:nvSpPr>
        <p:spPr>
          <a:xfrm>
            <a:off x="5958688" y="23774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o-214"/>
          <p:cNvSpPr txBox="1"/>
          <p:nvPr/>
        </p:nvSpPr>
        <p:spPr>
          <a:xfrm>
            <a:off x="5096134" y="2834640"/>
            <a:ext cx="19994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Opus 5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«El salto a hablar con un doctor». Se acaban las alucinaciones y la ingeniería de prompts.</a:t>
            </a:r>
            <a:endParaRPr lang="en-US" sz="1400" dirty="0"/>
          </a:p>
        </p:txBody>
      </p:sp>
      <p:sp>
        <p:nvSpPr>
          <p:cNvPr id="14" name="texto-215"/>
          <p:cNvSpPr txBox="1"/>
          <p:nvPr/>
        </p:nvSpPr>
        <p:spPr>
          <a:xfrm>
            <a:off x="7296729" y="182880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26 sep 2026</a:t>
            </a:r>
            <a:endParaRPr lang="en-US" sz="1400" dirty="0"/>
          </a:p>
        </p:txBody>
      </p:sp>
      <p:sp>
        <p:nvSpPr>
          <p:cNvPr id="15" name="hito-216"/>
          <p:cNvSpPr/>
          <p:nvPr/>
        </p:nvSpPr>
        <p:spPr>
          <a:xfrm>
            <a:off x="8177571" y="23774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o-217"/>
          <p:cNvSpPr txBox="1"/>
          <p:nvPr/>
        </p:nvSpPr>
        <p:spPr>
          <a:xfrm>
            <a:off x="7315017" y="2834640"/>
            <a:ext cx="19994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Opus 5.5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El modelo de uso diario durante la formación.</a:t>
            </a:r>
            <a:endParaRPr lang="en-US" sz="1400" dirty="0"/>
          </a:p>
        </p:txBody>
      </p:sp>
      <p:sp>
        <p:nvSpPr>
          <p:cNvPr id="17" name="texto-218"/>
          <p:cNvSpPr txBox="1"/>
          <p:nvPr/>
        </p:nvSpPr>
        <p:spPr>
          <a:xfrm>
            <a:off x="9515612" y="182880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Ahora</a:t>
            </a:r>
            <a:endParaRPr lang="en-US" sz="1400" dirty="0"/>
          </a:p>
        </p:txBody>
      </p:sp>
      <p:sp>
        <p:nvSpPr>
          <p:cNvPr id="18" name="hito-219"/>
          <p:cNvSpPr/>
          <p:nvPr/>
        </p:nvSpPr>
        <p:spPr>
          <a:xfrm>
            <a:off x="10396454" y="237744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o-220"/>
          <p:cNvSpPr txBox="1"/>
          <p:nvPr/>
        </p:nvSpPr>
        <p:spPr>
          <a:xfrm>
            <a:off x="9533900" y="2834640"/>
            <a:ext cx="19994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Fable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El más potente, para lo más exigente.</a:t>
            </a:r>
            <a:endParaRPr lang="en-US" sz="1400" dirty="0"/>
          </a:p>
        </p:txBody>
      </p:sp>
      <p:sp>
        <p:nvSpPr>
          <p:cNvPr id="20" name="caja-221"/>
          <p:cNvSpPr/>
          <p:nvPr/>
        </p:nvSpPr>
        <p:spPr>
          <a:xfrm>
            <a:off x="548640" y="457200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/>
        </p:spPr>
      </p:sp>
      <p:sp>
        <p:nvSpPr>
          <p:cNvPr id="21" name="texto-222"/>
          <p:cNvSpPr txBox="1"/>
          <p:nvPr/>
        </p:nvSpPr>
        <p:spPr>
          <a:xfrm>
            <a:off x="868680" y="475488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«Eso se ha acabado, ya prácticamente no alucina.»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22" name="texto-223"/>
          <p:cNvSpPr txBox="1"/>
          <p:nvPr/>
        </p:nvSpPr>
        <p:spPr>
          <a:xfrm>
            <a:off x="548640" y="592531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Fechas tal como se dijeron en la sesión.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Pedir bien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Lo cuentas con tus palabras: objetivo, contexto y fuente.</a:t>
            </a:r>
            <a:endParaRPr lang="en-US" sz="1700" dirty="0"/>
          </a:p>
        </p:txBody>
      </p:sp>
      <p:pic>
        <p:nvPicPr>
          <p:cNvPr id="5" name="foto-224" descr="Pedir bi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PEDIR BIEN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 idea: lo cuentas con tus palabras</a:t>
            </a:r>
            <a:endParaRPr lang="en-US" sz="3200" dirty="0"/>
          </a:p>
        </p:txBody>
      </p:sp>
      <p:sp>
        <p:nvSpPr>
          <p:cNvPr id="4" name="texto-225"/>
          <p:cNvSpPr txBox="1"/>
          <p:nvPr/>
        </p:nvSpPr>
        <p:spPr>
          <a:xfrm>
            <a:off x="548640" y="14813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Se acabó la «ingeniería de prompts». Ya no hace falta ordenar el texto ni usar fórmulas: 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lo cuentas con tus palabras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 y lo entiende.</a:t>
            </a:r>
            <a:endParaRPr lang="en-US" sz="1600" dirty="0"/>
          </a:p>
        </p:txBody>
      </p:sp>
      <p:sp>
        <p:nvSpPr>
          <p:cNvPr id="5" name="caja-226"/>
          <p:cNvSpPr/>
          <p:nvPr/>
        </p:nvSpPr>
        <p:spPr>
          <a:xfrm>
            <a:off x="548640" y="2212848"/>
            <a:ext cx="3545738" cy="1348740"/>
          </a:xfrm>
          <a:prstGeom prst="roundRect">
            <a:avLst>
              <a:gd name="adj" fmla="val 8136"/>
            </a:avLst>
          </a:prstGeom>
          <a:solidFill>
            <a:schemeClr val="bg2"/>
          </a:solidFill>
          <a:ln/>
        </p:spPr>
      </p:sp>
      <p:sp>
        <p:nvSpPr>
          <p:cNvPr id="6" name="texto-227"/>
          <p:cNvSpPr txBox="1"/>
          <p:nvPr/>
        </p:nvSpPr>
        <p:spPr>
          <a:xfrm>
            <a:off x="768096" y="2432304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Dile el objetivo</a:t>
            </a:r>
            <a:endParaRPr lang="en-US" sz="1800" dirty="0"/>
          </a:p>
        </p:txBody>
      </p:sp>
      <p:sp>
        <p:nvSpPr>
          <p:cNvPr id="7" name="texto-228"/>
          <p:cNvSpPr txBox="1"/>
          <p:nvPr/>
        </p:nvSpPr>
        <p:spPr>
          <a:xfrm>
            <a:off x="768096" y="2834640"/>
            <a:ext cx="310682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No le expliques tanto el camino como lo que quieres conseguir, con un poco de contexto.</a:t>
            </a:r>
            <a:endParaRPr lang="en-US" sz="1500" dirty="0"/>
          </a:p>
        </p:txBody>
      </p:sp>
      <p:sp>
        <p:nvSpPr>
          <p:cNvPr id="8" name="caja-229"/>
          <p:cNvSpPr/>
          <p:nvPr/>
        </p:nvSpPr>
        <p:spPr>
          <a:xfrm>
            <a:off x="4322978" y="2212848"/>
            <a:ext cx="3545738" cy="1348740"/>
          </a:xfrm>
          <a:prstGeom prst="roundRect">
            <a:avLst>
              <a:gd name="adj" fmla="val 8136"/>
            </a:avLst>
          </a:prstGeom>
          <a:solidFill>
            <a:schemeClr val="bg2"/>
          </a:solidFill>
          <a:ln/>
        </p:spPr>
      </p:sp>
      <p:sp>
        <p:nvSpPr>
          <p:cNvPr id="9" name="texto-230"/>
          <p:cNvSpPr txBox="1"/>
          <p:nvPr/>
        </p:nvSpPr>
        <p:spPr>
          <a:xfrm>
            <a:off x="4542434" y="2432304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Tú dices el qué</a:t>
            </a:r>
            <a:endParaRPr lang="en-US" sz="1800" dirty="0"/>
          </a:p>
        </p:txBody>
      </p:sp>
      <p:sp>
        <p:nvSpPr>
          <p:cNvPr id="10" name="texto-231"/>
          <p:cNvSpPr txBox="1"/>
          <p:nvPr/>
        </p:nvSpPr>
        <p:spPr>
          <a:xfrm>
            <a:off x="4542434" y="2834640"/>
            <a:ext cx="310682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No tienes que entender cómo se hace. Solo tienes que decírselo.</a:t>
            </a:r>
            <a:endParaRPr lang="en-US" sz="1500" dirty="0"/>
          </a:p>
        </p:txBody>
      </p:sp>
      <p:sp>
        <p:nvSpPr>
          <p:cNvPr id="11" name="caja-232"/>
          <p:cNvSpPr/>
          <p:nvPr/>
        </p:nvSpPr>
        <p:spPr>
          <a:xfrm>
            <a:off x="8097317" y="2212848"/>
            <a:ext cx="3545738" cy="1348740"/>
          </a:xfrm>
          <a:prstGeom prst="roundRect">
            <a:avLst>
              <a:gd name="adj" fmla="val 8136"/>
            </a:avLst>
          </a:prstGeom>
          <a:solidFill>
            <a:schemeClr val="bg2"/>
          </a:solidFill>
          <a:ln/>
        </p:spPr>
      </p:sp>
      <p:sp>
        <p:nvSpPr>
          <p:cNvPr id="12" name="texto-233"/>
          <p:cNvSpPr txBox="1"/>
          <p:nvPr/>
        </p:nvSpPr>
        <p:spPr>
          <a:xfrm>
            <a:off x="8316773" y="2432304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Dale la fuente</a:t>
            </a:r>
            <a:endParaRPr lang="en-US" sz="1800" dirty="0"/>
          </a:p>
        </p:txBody>
      </p:sp>
      <p:sp>
        <p:nvSpPr>
          <p:cNvPr id="13" name="texto-234"/>
          <p:cNvSpPr txBox="1"/>
          <p:nvPr/>
        </p:nvSpPr>
        <p:spPr>
          <a:xfrm>
            <a:off x="8316773" y="2834640"/>
            <a:ext cx="310682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O pídesela primero: «¿cuáles son las mejores fuentes sobre esto?», y luego trabaja contra la mejor.</a:t>
            </a:r>
            <a:endParaRPr lang="en-US" sz="1500" dirty="0"/>
          </a:p>
        </p:txBody>
      </p:sp>
      <p:sp>
        <p:nvSpPr>
          <p:cNvPr id="14" name="caja-235"/>
          <p:cNvSpPr/>
          <p:nvPr/>
        </p:nvSpPr>
        <p:spPr>
          <a:xfrm>
            <a:off x="548640" y="3790188"/>
            <a:ext cx="3545738" cy="1348740"/>
          </a:xfrm>
          <a:prstGeom prst="roundRect">
            <a:avLst>
              <a:gd name="adj" fmla="val 8136"/>
            </a:avLst>
          </a:prstGeom>
          <a:solidFill>
            <a:schemeClr val="bg2"/>
          </a:solidFill>
          <a:ln/>
        </p:spPr>
      </p:sp>
      <p:sp>
        <p:nvSpPr>
          <p:cNvPr id="15" name="texto-236"/>
          <p:cNvSpPr txBox="1"/>
          <p:nvPr/>
        </p:nvSpPr>
        <p:spPr>
          <a:xfrm>
            <a:off x="768096" y="4009644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Conoce lo que preguntas</a:t>
            </a:r>
            <a:endParaRPr lang="en-US" sz="1800" dirty="0"/>
          </a:p>
        </p:txBody>
      </p:sp>
      <p:sp>
        <p:nvSpPr>
          <p:cNvPr id="16" name="texto-237"/>
          <p:cNvSpPr txBox="1"/>
          <p:nvPr/>
        </p:nvSpPr>
        <p:spPr>
          <a:xfrm>
            <a:off x="768096" y="4411980"/>
            <a:ext cx="310682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Si no conoces bien la web o el dato, empieza por pedirle una auditoría de esa página.</a:t>
            </a:r>
            <a:endParaRPr lang="en-US" sz="1500" dirty="0"/>
          </a:p>
        </p:txBody>
      </p:sp>
      <p:sp>
        <p:nvSpPr>
          <p:cNvPr id="17" name="caja-238"/>
          <p:cNvSpPr/>
          <p:nvPr/>
        </p:nvSpPr>
        <p:spPr>
          <a:xfrm>
            <a:off x="4322978" y="3790188"/>
            <a:ext cx="3545738" cy="1348740"/>
          </a:xfrm>
          <a:prstGeom prst="roundRect">
            <a:avLst>
              <a:gd name="adj" fmla="val 8136"/>
            </a:avLst>
          </a:prstGeom>
          <a:solidFill>
            <a:schemeClr val="bg2"/>
          </a:solidFill>
          <a:ln/>
        </p:spPr>
      </p:sp>
      <p:sp>
        <p:nvSpPr>
          <p:cNvPr id="18" name="texto-239"/>
          <p:cNvSpPr txBox="1"/>
          <p:nvPr/>
        </p:nvSpPr>
        <p:spPr>
          <a:xfrm>
            <a:off x="4542434" y="4009644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Aprende tus coletillas</a:t>
            </a:r>
            <a:endParaRPr lang="en-US" sz="1800" dirty="0"/>
          </a:p>
        </p:txBody>
      </p:sp>
      <p:sp>
        <p:nvSpPr>
          <p:cNvPr id="19" name="texto-240"/>
          <p:cNvSpPr txBox="1"/>
          <p:nvPr/>
        </p:nvSpPr>
        <p:spPr>
          <a:xfrm>
            <a:off x="4542434" y="4411980"/>
            <a:ext cx="310682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Si siempre dices «dale» para que siga, se queda con tu «dale».</a:t>
            </a:r>
            <a:endParaRPr lang="en-US" sz="1500" dirty="0"/>
          </a:p>
        </p:txBody>
      </p:sp>
      <p:sp>
        <p:nvSpPr>
          <p:cNvPr id="20" name="caja-241"/>
          <p:cNvSpPr/>
          <p:nvPr/>
        </p:nvSpPr>
        <p:spPr>
          <a:xfrm>
            <a:off x="8097317" y="3790188"/>
            <a:ext cx="3545738" cy="1348740"/>
          </a:xfrm>
          <a:prstGeom prst="roundRect">
            <a:avLst>
              <a:gd name="adj" fmla="val 8136"/>
            </a:avLst>
          </a:prstGeom>
          <a:solidFill>
            <a:schemeClr val="bg2"/>
          </a:solidFill>
          <a:ln/>
        </p:spPr>
      </p:sp>
      <p:sp>
        <p:nvSpPr>
          <p:cNvPr id="21" name="texto-242"/>
          <p:cNvSpPr txBox="1"/>
          <p:nvPr/>
        </p:nvSpPr>
        <p:spPr>
          <a:xfrm>
            <a:off x="8316773" y="4009644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 duda, pregunta</a:t>
            </a:r>
            <a:endParaRPr lang="en-US" sz="1800" dirty="0"/>
          </a:p>
        </p:txBody>
      </p:sp>
      <p:sp>
        <p:nvSpPr>
          <p:cNvPr id="22" name="texto-243"/>
          <p:cNvSpPr txBox="1"/>
          <p:nvPr/>
        </p:nvSpPr>
        <p:spPr>
          <a:xfrm>
            <a:off x="8316773" y="4411980"/>
            <a:ext cx="310682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No da las cosas por hechas: si le falta un dato, te lo pregunta.</a:t>
            </a:r>
            <a:endParaRPr lang="en-US" sz="1500" dirty="0"/>
          </a:p>
        </p:txBody>
      </p:sp>
      <p:sp>
        <p:nvSpPr>
          <p:cNvPr id="23" name="caja-244"/>
          <p:cNvSpPr/>
          <p:nvPr/>
        </p:nvSpPr>
        <p:spPr>
          <a:xfrm>
            <a:off x="548640" y="5349240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4" name="texto-245"/>
          <p:cNvSpPr txBox="1"/>
          <p:nvPr/>
        </p:nvSpPr>
        <p:spPr>
          <a:xfrm>
            <a:off x="777240" y="534924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El truco de la profundidad: pedirlo «como si fuera una gran consultora» llevó un informe de 7 a 27 páginas. Hoy, si pides una consultoría o una auditoría, ya la hace con esa profundidad.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PEDIR BIEN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Cómo se hace</a:t>
            </a:r>
            <a:endParaRPr lang="en-US" sz="3200" dirty="0"/>
          </a:p>
        </p:txBody>
      </p:sp>
      <p:sp>
        <p:nvSpPr>
          <p:cNvPr id="4" name="linea-pasos"/>
          <p:cNvSpPr/>
          <p:nvPr/>
        </p:nvSpPr>
        <p:spPr>
          <a:xfrm>
            <a:off x="822960" y="1828800"/>
            <a:ext cx="8875532" cy="0"/>
          </a:xfrm>
          <a:prstGeom prst="line">
            <a:avLst/>
          </a:prstGeom>
          <a:noFill/>
          <a:ln w="19050">
            <a:solidFill>
              <a:srgbClr val="B9C9E0"/>
            </a:solidFill>
            <a:prstDash val="solid"/>
          </a:ln>
        </p:spPr>
      </p:sp>
      <p:sp>
        <p:nvSpPr>
          <p:cNvPr id="5" name="circulo-246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o-247"/>
          <p:cNvSpPr txBox="1"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o-248"/>
          <p:cNvSpPr txBox="1"/>
          <p:nvPr/>
        </p:nvSpPr>
        <p:spPr>
          <a:xfrm>
            <a:off x="594360" y="2194560"/>
            <a:ext cx="194456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Objetivo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Qué quieres conseguir y para qué lo necesitas.</a:t>
            </a:r>
            <a:endParaRPr lang="en-US" sz="1400" dirty="0"/>
          </a:p>
        </p:txBody>
      </p:sp>
      <p:sp>
        <p:nvSpPr>
          <p:cNvPr id="8" name="circulo-249"/>
          <p:cNvSpPr/>
          <p:nvPr/>
        </p:nvSpPr>
        <p:spPr>
          <a:xfrm>
            <a:off x="2813243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o-250"/>
          <p:cNvSpPr txBox="1"/>
          <p:nvPr/>
        </p:nvSpPr>
        <p:spPr>
          <a:xfrm>
            <a:off x="2813243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o-251"/>
          <p:cNvSpPr txBox="1"/>
          <p:nvPr/>
        </p:nvSpPr>
        <p:spPr>
          <a:xfrm>
            <a:off x="2813243" y="2194560"/>
            <a:ext cx="194456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Contexto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Qué sabes ya, para quién es y qué te interesa (solo una línea de negocio, solo una marca…).</a:t>
            </a:r>
            <a:endParaRPr lang="en-US" sz="1400" dirty="0"/>
          </a:p>
        </p:txBody>
      </p:sp>
      <p:sp>
        <p:nvSpPr>
          <p:cNvPr id="11" name="circulo-252"/>
          <p:cNvSpPr/>
          <p:nvPr/>
        </p:nvSpPr>
        <p:spPr>
          <a:xfrm>
            <a:off x="5032126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o-253"/>
          <p:cNvSpPr txBox="1"/>
          <p:nvPr/>
        </p:nvSpPr>
        <p:spPr>
          <a:xfrm>
            <a:off x="503212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o-254"/>
          <p:cNvSpPr txBox="1"/>
          <p:nvPr/>
        </p:nvSpPr>
        <p:spPr>
          <a:xfrm>
            <a:off x="5032126" y="2194560"/>
            <a:ext cx="194456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Fuente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Dónde están los datos: una web pública, tu Analytics abierto en Chrome, Drive, tu correo. Si no lo sabes, pídele las fuentes.</a:t>
            </a:r>
            <a:endParaRPr lang="en-US" sz="1400" dirty="0"/>
          </a:p>
        </p:txBody>
      </p:sp>
      <p:sp>
        <p:nvSpPr>
          <p:cNvPr id="14" name="circulo-255"/>
          <p:cNvSpPr/>
          <p:nvPr/>
        </p:nvSpPr>
        <p:spPr>
          <a:xfrm>
            <a:off x="7251009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o-256"/>
          <p:cNvSpPr txBox="1"/>
          <p:nvPr/>
        </p:nvSpPr>
        <p:spPr>
          <a:xfrm>
            <a:off x="7251009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o-257"/>
          <p:cNvSpPr txBox="1"/>
          <p:nvPr/>
        </p:nvSpPr>
        <p:spPr>
          <a:xfrm>
            <a:off x="7251009" y="2194560"/>
            <a:ext cx="194456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Formato y destino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PDF, Word, PowerPoint editable o Excel, en el chat o en tu carpeta de Drive. Si no dices nada, tiende a darte HTML.</a:t>
            </a:r>
            <a:endParaRPr lang="en-US" sz="1400" dirty="0"/>
          </a:p>
        </p:txBody>
      </p:sp>
      <p:sp>
        <p:nvSpPr>
          <p:cNvPr id="17" name="circulo-258"/>
          <p:cNvSpPr/>
          <p:nvPr/>
        </p:nvSpPr>
        <p:spPr>
          <a:xfrm>
            <a:off x="9469892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o-259"/>
          <p:cNvSpPr txBox="1"/>
          <p:nvPr/>
        </p:nvSpPr>
        <p:spPr>
          <a:xfrm>
            <a:off x="946989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9" name="texto-260"/>
          <p:cNvSpPr txBox="1"/>
          <p:nvPr/>
        </p:nvSpPr>
        <p:spPr>
          <a:xfrm>
            <a:off x="9469892" y="2194560"/>
            <a:ext cx="194456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Itera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No te leas 27 páginas: pregúntale por lo que ha detectado, por qué pasa y qué harías.</a:t>
            </a:r>
            <a:endParaRPr lang="en-US" sz="1400" dirty="0"/>
          </a:p>
        </p:txBody>
      </p:sp>
      <p:sp>
        <p:nvSpPr>
          <p:cNvPr id="20" name="caja-261"/>
          <p:cNvSpPr/>
          <p:nvPr/>
        </p:nvSpPr>
        <p:spPr>
          <a:xfrm>
            <a:off x="548640" y="4251960"/>
            <a:ext cx="11094415" cy="192024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/>
        </p:spPr>
      </p:sp>
      <p:sp>
        <p:nvSpPr>
          <p:cNvPr id="21" name="texto-262"/>
          <p:cNvSpPr txBox="1"/>
          <p:nvPr/>
        </p:nvSpPr>
        <p:spPr>
          <a:xfrm>
            <a:off x="868680" y="4434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Y LUEGO, ITERA CONTRA EL RESULTADO</a:t>
            </a:r>
            <a:endParaRPr lang="en-US" sz="1100" dirty="0"/>
          </a:p>
        </p:txBody>
      </p:sp>
      <p:sp>
        <p:nvSpPr>
          <p:cNvPr id="22" name="texto-263"/>
          <p:cNvSpPr txBox="1"/>
          <p:nvPr/>
        </p:nvSpPr>
        <p:spPr>
          <a:xfrm>
            <a:off x="868680" y="480060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«¿Qué has detectado? Dámelo en 5 puntos.»</a:t>
            </a:r>
            <a:endParaRPr lang="en-US" sz="1700" dirty="0"/>
          </a:p>
        </p:txBody>
      </p:sp>
      <p:sp>
        <p:nvSpPr>
          <p:cNvPr id="23" name="texto-264"/>
          <p:cNvSpPr txBox="1"/>
          <p:nvPr/>
        </p:nvSpPr>
        <p:spPr>
          <a:xfrm>
            <a:off x="6233008" y="480060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«¿Por qué no convierte? ¿Qué harías para que convierta?»</a:t>
            </a:r>
            <a:endParaRPr lang="en-US" sz="1700" dirty="0"/>
          </a:p>
        </p:txBody>
      </p:sp>
      <p:sp>
        <p:nvSpPr>
          <p:cNvPr id="24" name="texto-265"/>
          <p:cNvSpPr txBox="1"/>
          <p:nvPr/>
        </p:nvSpPr>
        <p:spPr>
          <a:xfrm>
            <a:off x="868680" y="553212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«¿Qué harías el mes que viene? ¿Qué riesgos ves?»</a:t>
            </a:r>
            <a:endParaRPr lang="en-US" sz="1700" dirty="0"/>
          </a:p>
        </p:txBody>
      </p:sp>
      <p:sp>
        <p:nvSpPr>
          <p:cNvPr id="25" name="texto-266"/>
          <p:cNvSpPr txBox="1"/>
          <p:nvPr/>
        </p:nvSpPr>
        <p:spPr>
          <a:xfrm>
            <a:off x="6233008" y="553212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«Sobre mis intereses, redúcemelo en 5 puntos y dime cuál es el clave.»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PEDIR BIEN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 plantilla</a:t>
            </a:r>
            <a:endParaRPr lang="en-US" sz="3200" dirty="0"/>
          </a:p>
        </p:txBody>
      </p:sp>
      <p:sp>
        <p:nvSpPr>
          <p:cNvPr id="4" name="texto-267"/>
          <p:cNvSpPr txBox="1"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Rellena los corchetes con tu caso. En la web, el constructor de prompts la escribe por ti mientras rellenas.</a:t>
            </a:r>
            <a:endParaRPr lang="en-US" sz="1500" dirty="0"/>
          </a:p>
        </p:txBody>
      </p:sp>
      <p:sp>
        <p:nvSpPr>
          <p:cNvPr id="5" name="caja-268"/>
          <p:cNvSpPr/>
          <p:nvPr/>
        </p:nvSpPr>
        <p:spPr>
          <a:xfrm>
            <a:off x="548640" y="2057400"/>
            <a:ext cx="11094415" cy="2743200"/>
          </a:xfrm>
          <a:prstGeom prst="roundRect">
            <a:avLst>
              <a:gd name="adj" fmla="val 4000"/>
            </a:avLst>
          </a:prstGeom>
          <a:solidFill>
            <a:srgbClr val="FBF4EF"/>
          </a:solidFill>
          <a:ln/>
        </p:spPr>
      </p:sp>
      <p:sp>
        <p:nvSpPr>
          <p:cNvPr id="6" name="texto-269"/>
          <p:cNvSpPr txBox="1"/>
          <p:nvPr/>
        </p:nvSpPr>
        <p:spPr>
          <a:xfrm>
            <a:off x="868680" y="2286000"/>
            <a:ext cx="1045433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Quiero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[tu objetivo]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Para que tengas contexto: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[contexto]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Usa como fuente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[la web, Analytics, Drive, tu correo…]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o, si no lo sabes, dime antes cuáles son las mejores fuentes. Céntrate en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[periodo o filtro]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Hazlo con la profundidad de una consultoría: resumen ejecutivo, tablas y conclusiones. Entrégamelo en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[PDF, Word, PowerPoint editable, Excel]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 déjalo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[en mi carpeta de Drive / en mi correo como borrador]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Cuando esté bien, prográmalo para que se repita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[cada lunes]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Si te falta algún dato, pregúntame antes de empezar.</a:t>
            </a:r>
            <a:endParaRPr lang="en-US" sz="1650" dirty="0"/>
          </a:p>
        </p:txBody>
      </p:sp>
      <p:sp>
        <p:nvSpPr>
          <p:cNvPr id="7" name="texto-270"/>
          <p:cNvSpPr txBox="1"/>
          <p:nvPr/>
        </p:nvSpPr>
        <p:spPr>
          <a:xfrm>
            <a:off x="548640" y="507492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«Lo cuentas con tus palabras, con tu forma de decírselo, y va a entenderlo perfectamente.»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PEDIR BIEN · 1 DE 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Prompts de la sesión</a:t>
            </a:r>
            <a:endParaRPr lang="en-US" sz="3200" dirty="0"/>
          </a:p>
        </p:txBody>
      </p:sp>
      <p:sp>
        <p:nvSpPr>
          <p:cNvPr id="4" name="caja-271"/>
          <p:cNvSpPr/>
          <p:nvPr/>
        </p:nvSpPr>
        <p:spPr>
          <a:xfrm>
            <a:off x="548640" y="1600200"/>
            <a:ext cx="3545738" cy="4617720"/>
          </a:xfrm>
          <a:prstGeom prst="roundRect">
            <a:avLst>
              <a:gd name="adj" fmla="val 3095"/>
            </a:avLst>
          </a:prstGeom>
          <a:solidFill>
            <a:srgbClr val="FBF4EF"/>
          </a:solidFill>
          <a:ln/>
        </p:spPr>
      </p:sp>
      <p:sp>
        <p:nvSpPr>
          <p:cNvPr id="5" name="texto-272"/>
          <p:cNvSpPr txBox="1"/>
          <p:nvPr/>
        </p:nvSpPr>
        <p:spPr>
          <a:xfrm>
            <a:off x="768096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EXTENSIÓN DE CHROME</a:t>
            </a:r>
            <a:endParaRPr lang="en-US" sz="1050" dirty="0"/>
          </a:p>
        </p:txBody>
      </p:sp>
      <p:sp>
        <p:nvSpPr>
          <p:cNvPr id="6" name="texto-273"/>
          <p:cNvSpPr txBox="1"/>
          <p:nvPr/>
        </p:nvSpPr>
        <p:spPr>
          <a:xfrm>
            <a:off x="768096" y="2075688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Informe de analítica web</a:t>
            </a:r>
            <a:endParaRPr lang="en-US" sz="1600" dirty="0"/>
          </a:p>
        </p:txBody>
      </p:sp>
      <p:sp>
        <p:nvSpPr>
          <p:cNvPr id="7" name="caja-274"/>
          <p:cNvSpPr/>
          <p:nvPr/>
        </p:nvSpPr>
        <p:spPr>
          <a:xfrm>
            <a:off x="713232" y="2514600"/>
            <a:ext cx="3216554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/>
        </p:spPr>
      </p:sp>
      <p:sp>
        <p:nvSpPr>
          <p:cNvPr id="8" name="texto-275"/>
          <p:cNvSpPr txBox="1"/>
          <p:nvPr/>
        </p:nvSpPr>
        <p:spPr>
          <a:xfrm>
            <a:off x="841248" y="2606040"/>
            <a:ext cx="296052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Tengo abierto Google Analytics en Chrome, tengo ya la extensión puesta y logueada. Saca la analítica de julio de 2026: canales, países, ciudades, páginas, landings más vistas y qué categorías de landing convierten. Filtra por servicio y taller. Hazme un informe en PDF con resumen ejecutivo, tablas y conclusiones, y súbelo a mi carpeta de Drive.</a:t>
            </a:r>
            <a:endParaRPr lang="en-US" sz="1250" dirty="0"/>
          </a:p>
        </p:txBody>
      </p:sp>
      <p:sp>
        <p:nvSpPr>
          <p:cNvPr id="9" name="texto-276"/>
          <p:cNvSpPr txBox="1"/>
          <p:nvPr/>
        </p:nvSpPr>
        <p:spPr>
          <a:xfrm>
            <a:off x="768096" y="5001768"/>
            <a:ext cx="31068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Qué salió: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Un PDF de 7 páginas en unos 15 minutos. A mano, el mismo análisis llevaba 4 o 5 días.</a:t>
            </a:r>
            <a:endParaRPr lang="en-US" sz="1300" dirty="0"/>
          </a:p>
        </p:txBody>
      </p:sp>
      <p:sp>
        <p:nvSpPr>
          <p:cNvPr id="10" name="caja-277"/>
          <p:cNvSpPr/>
          <p:nvPr/>
        </p:nvSpPr>
        <p:spPr>
          <a:xfrm>
            <a:off x="4322978" y="1600200"/>
            <a:ext cx="3545738" cy="4617720"/>
          </a:xfrm>
          <a:prstGeom prst="roundRect">
            <a:avLst>
              <a:gd name="adj" fmla="val 3095"/>
            </a:avLst>
          </a:prstGeom>
          <a:solidFill>
            <a:srgbClr val="FBF4EF"/>
          </a:solidFill>
          <a:ln/>
        </p:spPr>
      </p:sp>
      <p:sp>
        <p:nvSpPr>
          <p:cNvPr id="11" name="texto-278"/>
          <p:cNvSpPr txBox="1"/>
          <p:nvPr/>
        </p:nvSpPr>
        <p:spPr>
          <a:xfrm>
            <a:off x="4542434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EN DIRECTO</a:t>
            </a:r>
            <a:endParaRPr lang="en-US" sz="1050" dirty="0"/>
          </a:p>
        </p:txBody>
      </p:sp>
      <p:sp>
        <p:nvSpPr>
          <p:cNvPr id="12" name="texto-279"/>
          <p:cNvSpPr txBox="1"/>
          <p:nvPr/>
        </p:nvSpPr>
        <p:spPr>
          <a:xfrm>
            <a:off x="4542434" y="2075688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Datos de una web pública</a:t>
            </a:r>
            <a:endParaRPr lang="en-US" sz="1600" dirty="0"/>
          </a:p>
        </p:txBody>
      </p:sp>
      <p:sp>
        <p:nvSpPr>
          <p:cNvPr id="13" name="caja-280"/>
          <p:cNvSpPr/>
          <p:nvPr/>
        </p:nvSpPr>
        <p:spPr>
          <a:xfrm>
            <a:off x="4487570" y="2514600"/>
            <a:ext cx="3216554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/>
        </p:spPr>
      </p:sp>
      <p:sp>
        <p:nvSpPr>
          <p:cNvPr id="14" name="texto-281"/>
          <p:cNvSpPr txBox="1"/>
          <p:nvPr/>
        </p:nvSpPr>
        <p:spPr>
          <a:xfrm>
            <a:off x="4615586" y="2606040"/>
            <a:ext cx="296052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Hazme un informe del consumo de combustible para automóvil. Quiero conocer mes a mes cómo ha evolucionado respecto a años anteriores. Hazlo en PDF.</a:t>
            </a:r>
            <a:endParaRPr lang="en-US" sz="1250" dirty="0"/>
          </a:p>
        </p:txBody>
      </p:sp>
      <p:sp>
        <p:nvSpPr>
          <p:cNvPr id="15" name="texto-282"/>
          <p:cNvSpPr txBox="1"/>
          <p:nvPr/>
        </p:nvSpPr>
        <p:spPr>
          <a:xfrm>
            <a:off x="4542434" y="5001768"/>
            <a:ext cx="31068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Qué salió: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Con la web de estadísticas (CORES) abierta, navegó, aplicó filtros y bajó los Excel. Salió un informe de 7 páginas con el estilo de Reynasa, porque ese equipo tiene una skill de marca.</a:t>
            </a:r>
            <a:endParaRPr lang="en-US" sz="1300" dirty="0"/>
          </a:p>
        </p:txBody>
      </p:sp>
      <p:sp>
        <p:nvSpPr>
          <p:cNvPr id="16" name="caja-283"/>
          <p:cNvSpPr/>
          <p:nvPr/>
        </p:nvSpPr>
        <p:spPr>
          <a:xfrm>
            <a:off x="8097317" y="1600200"/>
            <a:ext cx="3545738" cy="4617720"/>
          </a:xfrm>
          <a:prstGeom prst="roundRect">
            <a:avLst>
              <a:gd name="adj" fmla="val 3095"/>
            </a:avLst>
          </a:prstGeom>
          <a:solidFill>
            <a:srgbClr val="FBF4EF"/>
          </a:solidFill>
          <a:ln/>
        </p:spPr>
      </p:sp>
      <p:sp>
        <p:nvSpPr>
          <p:cNvPr id="17" name="texto-284"/>
          <p:cNvSpPr txBox="1"/>
          <p:nvPr/>
        </p:nvSpPr>
        <p:spPr>
          <a:xfrm>
            <a:off x="8316773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CON UN CONECTOR</a:t>
            </a:r>
            <a:endParaRPr lang="en-US" sz="1050" dirty="0"/>
          </a:p>
        </p:txBody>
      </p:sp>
      <p:sp>
        <p:nvSpPr>
          <p:cNvPr id="18" name="texto-285"/>
          <p:cNvSpPr txBox="1"/>
          <p:nvPr/>
        </p:nvSpPr>
        <p:spPr>
          <a:xfrm>
            <a:off x="8316773" y="2075688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Ventas desde tu base de datos</a:t>
            </a:r>
            <a:endParaRPr lang="en-US" sz="1600" dirty="0"/>
          </a:p>
        </p:txBody>
      </p:sp>
      <p:sp>
        <p:nvSpPr>
          <p:cNvPr id="19" name="caja-286"/>
          <p:cNvSpPr/>
          <p:nvPr/>
        </p:nvSpPr>
        <p:spPr>
          <a:xfrm>
            <a:off x="8261909" y="2514600"/>
            <a:ext cx="3216554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/>
        </p:spPr>
      </p:sp>
      <p:sp>
        <p:nvSpPr>
          <p:cNvPr id="20" name="texto-287"/>
          <p:cNvSpPr txBox="1"/>
          <p:nvPr/>
        </p:nvSpPr>
        <p:spPr>
          <a:xfrm>
            <a:off x="8389925" y="2606040"/>
            <a:ext cx="296052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Sácame de [tu base de datos] la venta de [producto] de julio por [centro], compárala con junio y mándame el resumen a mi correo.</a:t>
            </a:r>
            <a:endParaRPr lang="en-US" sz="1250" dirty="0"/>
          </a:p>
        </p:txBody>
      </p:sp>
      <p:sp>
        <p:nvSpPr>
          <p:cNvPr id="21" name="texto-288"/>
          <p:cNvSpPr txBox="1"/>
          <p:nvPr/>
        </p:nvSpPr>
        <p:spPr>
          <a:xfrm>
            <a:off x="8316773" y="5001768"/>
            <a:ext cx="31068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Qué salió: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En unos minutos llega un correo con la comparativa y una tabla que explica cómo lo ha calculado. Hay que explicarle qué significa cada dato (qué fecha, con o sin IVA).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PEDIR BIEN · 2 DE 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Prompts de la sesión</a:t>
            </a:r>
            <a:endParaRPr lang="en-US" sz="3200" dirty="0"/>
          </a:p>
        </p:txBody>
      </p:sp>
      <p:sp>
        <p:nvSpPr>
          <p:cNvPr id="4" name="caja-289"/>
          <p:cNvSpPr/>
          <p:nvPr/>
        </p:nvSpPr>
        <p:spPr>
          <a:xfrm>
            <a:off x="548640" y="1600200"/>
            <a:ext cx="3545738" cy="4617720"/>
          </a:xfrm>
          <a:prstGeom prst="roundRect">
            <a:avLst>
              <a:gd name="adj" fmla="val 3095"/>
            </a:avLst>
          </a:prstGeom>
          <a:solidFill>
            <a:srgbClr val="FBF4EF"/>
          </a:solidFill>
          <a:ln/>
        </p:spPr>
      </p:sp>
      <p:sp>
        <p:nvSpPr>
          <p:cNvPr id="5" name="texto-290"/>
          <p:cNvSpPr txBox="1"/>
          <p:nvPr/>
        </p:nvSpPr>
        <p:spPr>
          <a:xfrm>
            <a:off x="768096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NAVEGADOR</a:t>
            </a:r>
            <a:endParaRPr lang="en-US" sz="1050" dirty="0"/>
          </a:p>
        </p:txBody>
      </p:sp>
      <p:sp>
        <p:nvSpPr>
          <p:cNvPr id="6" name="texto-291"/>
          <p:cNvSpPr txBox="1"/>
          <p:nvPr/>
        </p:nvSpPr>
        <p:spPr>
          <a:xfrm>
            <a:off x="768096" y="2075688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Organizar un viaje</a:t>
            </a:r>
            <a:endParaRPr lang="en-US" sz="1600" dirty="0"/>
          </a:p>
        </p:txBody>
      </p:sp>
      <p:sp>
        <p:nvSpPr>
          <p:cNvPr id="7" name="caja-292"/>
          <p:cNvSpPr/>
          <p:nvPr/>
        </p:nvSpPr>
        <p:spPr>
          <a:xfrm>
            <a:off x="713232" y="2514600"/>
            <a:ext cx="3216554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</p:spPr>
      </p:sp>
      <p:sp>
        <p:nvSpPr>
          <p:cNvPr id="8" name="texto-293"/>
          <p:cNvSpPr txBox="1"/>
          <p:nvPr/>
        </p:nvSpPr>
        <p:spPr>
          <a:xfrm>
            <a:off x="841248" y="2606040"/>
            <a:ext cx="296052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Métete en Skyscanner y mírame un vuelo a Oporto para dentro de 3 días, para las cuatro personas que están en la información del correo.</a:t>
            </a:r>
            <a:endParaRPr lang="en-US" sz="1250" dirty="0"/>
          </a:p>
        </p:txBody>
      </p:sp>
      <p:sp>
        <p:nvSpPr>
          <p:cNvPr id="9" name="texto-294"/>
          <p:cNvSpPr txBox="1"/>
          <p:nvPr/>
        </p:nvSpPr>
        <p:spPr>
          <a:xfrm>
            <a:off x="768096" y="4544568"/>
            <a:ext cx="310682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Qué salió: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Busca a las personas en el correo, elige vuelos y asientos y te deja el pago a ti: Claude no acepta contraseñas ni datos de tarjeta. Ojo con los datos personales de terceros (DNI).</a:t>
            </a:r>
            <a:endParaRPr lang="en-US" sz="1300" dirty="0"/>
          </a:p>
        </p:txBody>
      </p:sp>
      <p:sp>
        <p:nvSpPr>
          <p:cNvPr id="10" name="caja-295"/>
          <p:cNvSpPr/>
          <p:nvPr/>
        </p:nvSpPr>
        <p:spPr>
          <a:xfrm>
            <a:off x="4322978" y="1600200"/>
            <a:ext cx="3545738" cy="4617720"/>
          </a:xfrm>
          <a:prstGeom prst="roundRect">
            <a:avLst>
              <a:gd name="adj" fmla="val 3095"/>
            </a:avLst>
          </a:prstGeom>
          <a:solidFill>
            <a:srgbClr val="FBF4EF"/>
          </a:solidFill>
          <a:ln/>
        </p:spPr>
      </p:sp>
      <p:sp>
        <p:nvSpPr>
          <p:cNvPr id="11" name="texto-296"/>
          <p:cNvSpPr txBox="1"/>
          <p:nvPr/>
        </p:nvSpPr>
        <p:spPr>
          <a:xfrm>
            <a:off x="4542434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CUALQUIER WEB</a:t>
            </a:r>
            <a:endParaRPr lang="en-US" sz="1050" dirty="0"/>
          </a:p>
        </p:txBody>
      </p:sp>
      <p:sp>
        <p:nvSpPr>
          <p:cNvPr id="12" name="texto-297"/>
          <p:cNvSpPr txBox="1"/>
          <p:nvPr/>
        </p:nvSpPr>
        <p:spPr>
          <a:xfrm>
            <a:off x="4542434" y="2075688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Resumen con un objetivo</a:t>
            </a:r>
            <a:endParaRPr lang="en-US" sz="1600" dirty="0"/>
          </a:p>
        </p:txBody>
      </p:sp>
      <p:sp>
        <p:nvSpPr>
          <p:cNvPr id="13" name="caja-298"/>
          <p:cNvSpPr/>
          <p:nvPr/>
        </p:nvSpPr>
        <p:spPr>
          <a:xfrm>
            <a:off x="4487570" y="2514600"/>
            <a:ext cx="3216554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</p:spPr>
      </p:sp>
      <p:sp>
        <p:nvSpPr>
          <p:cNvPr id="14" name="texto-299"/>
          <p:cNvSpPr txBox="1"/>
          <p:nvPr/>
        </p:nvSpPr>
        <p:spPr>
          <a:xfrm>
            <a:off x="4615586" y="2606040"/>
            <a:ext cx="296052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Entra, lee y hazme un resumen en 50 palabras de lo que es y de qué podríamos hacer en base al objetivo que antes te he dicho.</a:t>
            </a:r>
            <a:endParaRPr lang="en-US" sz="1250" dirty="0"/>
          </a:p>
        </p:txBody>
      </p:sp>
      <p:sp>
        <p:nvSpPr>
          <p:cNvPr id="15" name="texto-300"/>
          <p:cNvSpPr txBox="1"/>
          <p:nvPr/>
        </p:nvSpPr>
        <p:spPr>
          <a:xfrm>
            <a:off x="4542434" y="4544568"/>
            <a:ext cx="310682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Qué salió: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Hace exactamente eso: 50 palabras orientadas a tu objetivo.</a:t>
            </a:r>
            <a:endParaRPr lang="en-US" sz="1300" dirty="0"/>
          </a:p>
        </p:txBody>
      </p:sp>
      <p:sp>
        <p:nvSpPr>
          <p:cNvPr id="16" name="caja-301"/>
          <p:cNvSpPr/>
          <p:nvPr/>
        </p:nvSpPr>
        <p:spPr>
          <a:xfrm>
            <a:off x="8097317" y="1600200"/>
            <a:ext cx="3545738" cy="4617720"/>
          </a:xfrm>
          <a:prstGeom prst="roundRect">
            <a:avLst>
              <a:gd name="adj" fmla="val 3095"/>
            </a:avLst>
          </a:prstGeom>
          <a:solidFill>
            <a:srgbClr val="FBF4EF"/>
          </a:solidFill>
          <a:ln/>
        </p:spPr>
      </p:sp>
      <p:sp>
        <p:nvSpPr>
          <p:cNvPr id="17" name="texto-302"/>
          <p:cNvSpPr txBox="1"/>
          <p:nvPr/>
        </p:nvSpPr>
        <p:spPr>
          <a:xfrm>
            <a:off x="8316773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TAREA PROGRAMADA</a:t>
            </a:r>
            <a:endParaRPr lang="en-US" sz="1050" dirty="0"/>
          </a:p>
        </p:txBody>
      </p:sp>
      <p:sp>
        <p:nvSpPr>
          <p:cNvPr id="18" name="texto-303"/>
          <p:cNvSpPr txBox="1"/>
          <p:nvPr/>
        </p:nvSpPr>
        <p:spPr>
          <a:xfrm>
            <a:off x="8316773" y="2075688"/>
            <a:ext cx="3106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se repita solo</a:t>
            </a:r>
            <a:endParaRPr lang="en-US" sz="1600" dirty="0"/>
          </a:p>
        </p:txBody>
      </p:sp>
      <p:sp>
        <p:nvSpPr>
          <p:cNvPr id="19" name="caja-304"/>
          <p:cNvSpPr/>
          <p:nvPr/>
        </p:nvSpPr>
        <p:spPr>
          <a:xfrm>
            <a:off x="8261909" y="2514600"/>
            <a:ext cx="3216554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</p:spPr>
      </p:sp>
      <p:sp>
        <p:nvSpPr>
          <p:cNvPr id="20" name="texto-305"/>
          <p:cNvSpPr txBox="1"/>
          <p:nvPr/>
        </p:nvSpPr>
        <p:spPr>
          <a:xfrm>
            <a:off x="8389925" y="2606040"/>
            <a:ext cx="296052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Cuando el informe esté bien, prográmalo para que me lo saque todos los lunes a primera hora y lo deje en mi carpeta de Drive.</a:t>
            </a:r>
            <a:endParaRPr lang="en-US" sz="1250" dirty="0"/>
          </a:p>
        </p:txBody>
      </p:sp>
      <p:sp>
        <p:nvSpPr>
          <p:cNvPr id="21" name="texto-306"/>
          <p:cNvSpPr txBox="1"/>
          <p:nvPr/>
        </p:nvSpPr>
        <p:spPr>
          <a:xfrm>
            <a:off x="8316773" y="4544568"/>
            <a:ext cx="310682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Qué salió: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Lo que hoy pides una vez, mañana lo tienes cada semana sin pedirlo.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Conectar Claude a tu día a día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Conectores, MCP y la extensión que navega con tu sesión.</a:t>
            </a:r>
            <a:endParaRPr lang="en-US" sz="1700" dirty="0"/>
          </a:p>
        </p:txBody>
      </p:sp>
      <p:pic>
        <p:nvPicPr>
          <p:cNvPr id="5" name="foto-307" descr="Conectar Claude a tu día a dí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05 · CONECTAR CLAUDE A TU DÍA A DÍA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Conectores y MCP: «la llave que conecta las soluciones»</a:t>
            </a:r>
            <a:endParaRPr lang="en-US" sz="3200" dirty="0"/>
          </a:p>
        </p:txBody>
      </p:sp>
      <p:sp>
        <p:nvSpPr>
          <p:cNvPr id="4" name="texto-308"/>
          <p:cNvSpPr txBox="1"/>
          <p:nvPr/>
        </p:nvSpPr>
        <p:spPr>
          <a:xfrm>
            <a:off x="548640" y="157276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CÓMO SE CONECTA</a:t>
            </a:r>
            <a:endParaRPr lang="en-US" sz="1100" dirty="0"/>
          </a:p>
        </p:txBody>
      </p:sp>
      <p:sp>
        <p:nvSpPr>
          <p:cNvPr id="5" name="circulo-309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o-310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o-311"/>
          <p:cNvSpPr txBox="1"/>
          <p:nvPr/>
        </p:nvSpPr>
        <p:spPr>
          <a:xfrm>
            <a:off x="1188720" y="1947672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Abre Conectores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En Claude, el botón «Conectores»: Gmail, Calendar, Slack, Drive… Son bibliotecas que crecen cada semana (hay hasta de Higgsfield o de Plaud).</a:t>
            </a:r>
            <a:endParaRPr lang="en-US" sz="1400" dirty="0"/>
          </a:p>
        </p:txBody>
      </p:sp>
      <p:sp>
        <p:nvSpPr>
          <p:cNvPr id="8" name="circulo-312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o-313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o-314"/>
          <p:cNvSpPr txBox="1"/>
          <p:nvPr/>
        </p:nvSpPr>
        <p:spPr>
          <a:xfrm>
            <a:off x="1188720" y="3364992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Da los permisos justos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La primera vez te pregunta qué permites: leer, escribir, dejar borradores… Con todos los permisos puede mandar correos.</a:t>
            </a:r>
            <a:endParaRPr lang="en-US" sz="1400" dirty="0"/>
          </a:p>
        </p:txBody>
      </p:sp>
      <p:sp>
        <p:nvSpPr>
          <p:cNvPr id="11" name="circulo-315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o-316"/>
          <p:cNvSpPr txBox="1"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o-317"/>
          <p:cNvSpPr txBox="1"/>
          <p:nvPr/>
        </p:nvSpPr>
        <p:spPr>
          <a:xfrm>
            <a:off x="1188720" y="4782312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Pregunta como siempre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«¿Qué tengo importante esta mañana?», «prepárame un borrador», «organízame las etiquetas».</a:t>
            </a:r>
            <a:endParaRPr lang="en-US" sz="1400" dirty="0"/>
          </a:p>
        </p:txBody>
      </p:sp>
      <p:sp>
        <p:nvSpPr>
          <p:cNvPr id="14" name="texto-318"/>
          <p:cNvSpPr txBox="1"/>
          <p:nvPr/>
        </p:nvSpPr>
        <p:spPr>
          <a:xfrm>
            <a:off x="6172200" y="157276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LO QUE SE VIO EN LA SALA</a:t>
            </a:r>
            <a:endParaRPr lang="en-US" sz="1100" dirty="0"/>
          </a:p>
        </p:txBody>
      </p:sp>
      <p:sp>
        <p:nvSpPr>
          <p:cNvPr id="15" name="caja-319"/>
          <p:cNvSpPr/>
          <p:nvPr/>
        </p:nvSpPr>
        <p:spPr>
          <a:xfrm>
            <a:off x="6172200" y="1938528"/>
            <a:ext cx="5468112" cy="1298448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/>
        </p:spPr>
      </p:sp>
      <p:sp>
        <p:nvSpPr>
          <p:cNvPr id="16" name="texto-320"/>
          <p:cNvSpPr txBox="1"/>
          <p:nvPr/>
        </p:nvSpPr>
        <p:spPr>
          <a:xfrm>
            <a:off x="6355080" y="212140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MCP no nativos</a:t>
            </a:r>
            <a:endParaRPr lang="en-US" sz="1700" dirty="0"/>
          </a:p>
        </p:txBody>
      </p:sp>
      <p:sp>
        <p:nvSpPr>
          <p:cNvPr id="17" name="texto-321"/>
          <p:cNvSpPr txBox="1"/>
          <p:nvPr/>
        </p:nvSpPr>
        <p:spPr>
          <a:xfrm>
            <a:off x="6355080" y="2487168"/>
            <a:ext cx="51023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Aunque no haya conector oficial, se puede conectar. Rubén conectó Google Analytics y Search Console: «me da la vida para el análisis de la web».</a:t>
            </a:r>
            <a:endParaRPr lang="en-US" sz="1450" dirty="0"/>
          </a:p>
        </p:txBody>
      </p:sp>
      <p:sp>
        <p:nvSpPr>
          <p:cNvPr id="18" name="caja-322"/>
          <p:cNvSpPr/>
          <p:nvPr/>
        </p:nvSpPr>
        <p:spPr>
          <a:xfrm>
            <a:off x="6172200" y="3374136"/>
            <a:ext cx="5468112" cy="1298448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/>
        </p:spPr>
      </p:sp>
      <p:sp>
        <p:nvSpPr>
          <p:cNvPr id="19" name="texto-323"/>
          <p:cNvSpPr txBox="1"/>
          <p:nvPr/>
        </p:nvSpPr>
        <p:spPr>
          <a:xfrm>
            <a:off x="6355080" y="3557016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Bases de datos</a:t>
            </a:r>
            <a:endParaRPr lang="en-US" sz="1700" dirty="0"/>
          </a:p>
        </p:txBody>
      </p:sp>
      <p:sp>
        <p:nvSpPr>
          <p:cNvPr id="20" name="texto-324"/>
          <p:cNvSpPr txBox="1"/>
          <p:nvPr/>
        </p:nvSpPr>
        <p:spPr>
          <a:xfrm>
            <a:off x="6355080" y="3922776"/>
            <a:ext cx="51023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Con un MCP a tu base de datos preguntas «la venta de ayer», por centros, por categorías o comparada con el año pasado.</a:t>
            </a:r>
            <a:endParaRPr lang="en-US" sz="1450" dirty="0"/>
          </a:p>
        </p:txBody>
      </p:sp>
      <p:sp>
        <p:nvSpPr>
          <p:cNvPr id="21" name="caja-325"/>
          <p:cNvSpPr/>
          <p:nvPr/>
        </p:nvSpPr>
        <p:spPr>
          <a:xfrm>
            <a:off x="6172200" y="4809744"/>
            <a:ext cx="5468112" cy="1298448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/>
        </p:spPr>
      </p:sp>
      <p:sp>
        <p:nvSpPr>
          <p:cNvPr id="22" name="texto-326"/>
          <p:cNvSpPr txBox="1"/>
          <p:nvPr/>
        </p:nvSpPr>
        <p:spPr>
          <a:xfrm>
            <a:off x="6355080" y="499262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Los datos hay que explicarlos</a:t>
            </a:r>
            <a:endParaRPr lang="en-US" sz="1700" dirty="0"/>
          </a:p>
        </p:txBody>
      </p:sp>
      <p:sp>
        <p:nvSpPr>
          <p:cNvPr id="23" name="texto-327"/>
          <p:cNvSpPr txBox="1"/>
          <p:nvPr/>
        </p:nvSpPr>
        <p:spPr>
          <a:xfrm>
            <a:off x="6355080" y="5358384"/>
            <a:ext cx="51023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La interpretación sigue siendo humana: dile qué fecha cuenta y si el importe va con o sin IVA.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05 · CONECTAR CLAUDE A TU DÍA A DÍA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Cowork y la extensión de Chrome</a:t>
            </a:r>
            <a:endParaRPr lang="en-US" sz="3200" dirty="0"/>
          </a:p>
        </p:txBody>
      </p:sp>
      <p:sp>
        <p:nvSpPr>
          <p:cNvPr id="4" name="caja-328"/>
          <p:cNvSpPr/>
          <p:nvPr/>
        </p:nvSpPr>
        <p:spPr>
          <a:xfrm>
            <a:off x="548640" y="1600200"/>
            <a:ext cx="4023360" cy="4572000"/>
          </a:xfrm>
          <a:prstGeom prst="roundRect">
            <a:avLst>
              <a:gd name="adj" fmla="val 2727"/>
            </a:avLst>
          </a:prstGeom>
          <a:solidFill>
            <a:schemeClr val="accent6"/>
          </a:solidFill>
          <a:ln/>
        </p:spPr>
      </p:sp>
      <p:sp>
        <p:nvSpPr>
          <p:cNvPr id="5" name="texto-329"/>
          <p:cNvSpPr txBox="1"/>
          <p:nvPr/>
        </p:nvSpPr>
        <p:spPr>
          <a:xfrm>
            <a:off x="822960" y="18105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COWORK</a:t>
            </a:r>
            <a:endParaRPr lang="en-US" sz="1100" dirty="0"/>
          </a:p>
        </p:txBody>
      </p:sp>
      <p:sp>
        <p:nvSpPr>
          <p:cNvPr id="6" name="texto-330"/>
          <p:cNvSpPr txBox="1"/>
          <p:nvPr/>
        </p:nvSpPr>
        <p:spPr>
          <a:xfrm>
            <a:off x="822960" y="2121408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que actúe en tus carpetas y en tus aplicaciones, casi siempre se usa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Cowork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y Cowork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 usa en la app de escritorio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: «tienes que bajar la aplicación, no usarla en web». Así accede a tus carpetas y a tus conexiones.</a:t>
            </a:r>
            <a:endParaRPr lang="en-US" sz="1400" dirty="0"/>
          </a:p>
        </p:txBody>
      </p:sp>
      <p:sp>
        <p:nvSpPr>
          <p:cNvPr id="7" name="texto-331"/>
          <p:cNvSpPr txBox="1"/>
          <p:nvPr/>
        </p:nvSpPr>
        <p:spPr>
          <a:xfrm>
            <a:off x="822960" y="39319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Matiz de Rubén: para algo sencillo, como dejar un borrador de correo, también vale el chat. No siempre necesitas Cowork.</a:t>
            </a:r>
            <a:endParaRPr lang="en-US" sz="1250" dirty="0"/>
          </a:p>
        </p:txBody>
      </p:sp>
      <p:sp>
        <p:nvSpPr>
          <p:cNvPr id="8" name="texto-332"/>
          <p:cNvSpPr txBox="1"/>
          <p:nvPr/>
        </p:nvSpPr>
        <p:spPr>
          <a:xfrm>
            <a:off x="822960" y="4892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«Ya no hay que saber cómo se maneja, hay que hacer un prompt.»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Renedo, sobre Google Analytics</a:t>
            </a:r>
            <a:endParaRPr lang="en-US" sz="1400" dirty="0"/>
          </a:p>
        </p:txBody>
      </p:sp>
      <p:sp>
        <p:nvSpPr>
          <p:cNvPr id="9" name="texto-333"/>
          <p:cNvSpPr txBox="1"/>
          <p:nvPr/>
        </p:nvSpPr>
        <p:spPr>
          <a:xfrm>
            <a:off x="4892040" y="16002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LA EXTENSIÓN DE CHROME</a:t>
            </a:r>
            <a:endParaRPr lang="en-US" sz="1100" dirty="0"/>
          </a:p>
        </p:txBody>
      </p:sp>
      <p:sp>
        <p:nvSpPr>
          <p:cNvPr id="10" name="texto-334"/>
          <p:cNvSpPr txBox="1"/>
          <p:nvPr/>
        </p:nvSpPr>
        <p:spPr>
          <a:xfrm>
            <a:off x="4892040" y="1901952"/>
            <a:ext cx="6748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Instala la extensión de Claude en Chrome, inicia sesión y </a:t>
            </a:r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maneja tu navegador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: abre pestañas, navega y entra donde tú ya has entrado.</a:t>
            </a:r>
            <a:endParaRPr lang="en-US" sz="1500" dirty="0"/>
          </a:p>
        </p:txBody>
      </p:sp>
      <p:sp>
        <p:nvSpPr>
          <p:cNvPr id="11" name="punto-335"/>
          <p:cNvSpPr/>
          <p:nvPr/>
        </p:nvSpPr>
        <p:spPr>
          <a:xfrm>
            <a:off x="4892040" y="2770632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o-336"/>
          <p:cNvSpPr txBox="1"/>
          <p:nvPr/>
        </p:nvSpPr>
        <p:spPr>
          <a:xfrm>
            <a:off x="5212080" y="2697480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Con tu sesión.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No necesita tu usuario ni tu contraseña: deja la aplicación abierta en Chrome con tu sesión y entra «logueado».</a:t>
            </a:r>
            <a:endParaRPr lang="en-US" sz="1450" dirty="0"/>
          </a:p>
        </p:txBody>
      </p:sp>
      <p:sp>
        <p:nvSpPr>
          <p:cNvPr id="13" name="punto-337"/>
          <p:cNvSpPr/>
          <p:nvPr/>
        </p:nvSpPr>
        <p:spPr>
          <a:xfrm>
            <a:off x="4892040" y="3474720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o-338"/>
          <p:cNvSpPr txBox="1"/>
          <p:nvPr/>
        </p:nvSpPr>
        <p:spPr>
          <a:xfrm>
            <a:off x="5212080" y="3401568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Sin conector, también.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En un sistema que no tiene conector ve los botones, los va pulsando y analiza la estructura. La primera vez le lleva un rato.</a:t>
            </a:r>
            <a:endParaRPr lang="en-US" sz="1450" dirty="0"/>
          </a:p>
        </p:txBody>
      </p:sp>
      <p:sp>
        <p:nvSpPr>
          <p:cNvPr id="15" name="punto-339"/>
          <p:cNvSpPr/>
          <p:nvPr/>
        </p:nvSpPr>
        <p:spPr>
          <a:xfrm>
            <a:off x="4892040" y="417880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o-340"/>
          <p:cNvSpPr txBox="1"/>
          <p:nvPr/>
        </p:nvSpPr>
        <p:spPr>
          <a:xfrm>
            <a:off x="5212080" y="4105656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No le molestes.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Si haces scroll o pinchas mientras trabaja, le estorbas: «se pone a trabajar con un ratón que no es el tuyo».</a:t>
            </a:r>
            <a:endParaRPr lang="en-US" sz="1450" dirty="0"/>
          </a:p>
        </p:txBody>
      </p:sp>
      <p:sp>
        <p:nvSpPr>
          <p:cNvPr id="17" name="punto-341"/>
          <p:cNvSpPr/>
          <p:nvPr/>
        </p:nvSpPr>
        <p:spPr>
          <a:xfrm>
            <a:off x="4892040" y="4882896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o-342"/>
          <p:cNvSpPr txBox="1"/>
          <p:nvPr/>
        </p:nvSpPr>
        <p:spPr>
          <a:xfrm>
            <a:off x="5212080" y="4809744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Google y Microsoft.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Funciona en los dos entornos. Si un sistema corre en Chrome, lo puede manejar. Y no rompe ni desconfigura nada.</a:t>
            </a:r>
            <a:endParaRPr lang="en-US" sz="1450" dirty="0"/>
          </a:p>
        </p:txBody>
      </p:sp>
      <p:sp>
        <p:nvSpPr>
          <p:cNvPr id="19" name="punto-343"/>
          <p:cNvSpPr/>
          <p:nvPr/>
        </p:nvSpPr>
        <p:spPr>
          <a:xfrm>
            <a:off x="4892040" y="5586984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o-344"/>
          <p:cNvSpPr txBox="1"/>
          <p:nvPr/>
        </p:nvSpPr>
        <p:spPr>
          <a:xfrm>
            <a:off x="5212080" y="5513832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Pagos y contraseñas.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No acepta contraseñas (te pide cambiarlas si se las das) ni datos de tarjeta. Lo arriesgado te lo deja a ti.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05 · CONECTAR CLAUDE A TU DÍA A DÍA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Casos de la sesión</a:t>
            </a:r>
            <a:endParaRPr lang="en-US" sz="3200" dirty="0"/>
          </a:p>
        </p:txBody>
      </p:sp>
      <p:sp>
        <p:nvSpPr>
          <p:cNvPr id="4" name="caja-345"/>
          <p:cNvSpPr/>
          <p:nvPr/>
        </p:nvSpPr>
        <p:spPr>
          <a:xfrm>
            <a:off x="548640" y="1600200"/>
            <a:ext cx="5432908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/>
        </p:spPr>
      </p:sp>
      <p:sp>
        <p:nvSpPr>
          <p:cNvPr id="5" name="texto-346"/>
          <p:cNvSpPr txBox="1"/>
          <p:nvPr/>
        </p:nvSpPr>
        <p:spPr>
          <a:xfrm>
            <a:off x="768096" y="1819656"/>
            <a:ext cx="499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CHROME + ANALYTICS</a:t>
            </a:r>
            <a:endParaRPr lang="en-US" sz="1050" dirty="0"/>
          </a:p>
        </p:txBody>
      </p:sp>
      <p:sp>
        <p:nvSpPr>
          <p:cNvPr id="6" name="texto-347"/>
          <p:cNvSpPr txBox="1"/>
          <p:nvPr/>
        </p:nvSpPr>
        <p:spPr>
          <a:xfrm>
            <a:off x="768096" y="2075688"/>
            <a:ext cx="4993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Consultoría de analítica</a:t>
            </a:r>
            <a:endParaRPr lang="en-US" sz="2000" dirty="0"/>
          </a:p>
        </p:txBody>
      </p:sp>
      <p:sp>
        <p:nvSpPr>
          <p:cNvPr id="7" name="texto-348"/>
          <p:cNvSpPr txBox="1"/>
          <p:nvPr/>
        </p:nvSpPr>
        <p:spPr>
          <a:xfrm>
            <a:off x="768096" y="2551176"/>
            <a:ext cx="4993996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chemeClr val="tx1"/>
                </a:solidFill>
              </a:rPr>
              <a:t>Un informe de 7 páginas con canales, ciudades, landings y conversión, en unos 15 minutos. Después, iterar: «¿por qué no convierte?». Se puede programar cada lunes.</a:t>
            </a:r>
            <a:endParaRPr lang="en-US" sz="1650" dirty="0"/>
          </a:p>
        </p:txBody>
      </p:sp>
      <p:sp>
        <p:nvSpPr>
          <p:cNvPr id="8" name="caja-349"/>
          <p:cNvSpPr/>
          <p:nvPr/>
        </p:nvSpPr>
        <p:spPr>
          <a:xfrm>
            <a:off x="6210148" y="1600200"/>
            <a:ext cx="5432908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/>
        </p:spPr>
      </p:sp>
      <p:sp>
        <p:nvSpPr>
          <p:cNvPr id="9" name="texto-350"/>
          <p:cNvSpPr txBox="1"/>
          <p:nvPr/>
        </p:nvSpPr>
        <p:spPr>
          <a:xfrm>
            <a:off x="6429604" y="1819656"/>
            <a:ext cx="499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EN DIRECTO</a:t>
            </a:r>
            <a:endParaRPr lang="en-US" sz="1050" dirty="0"/>
          </a:p>
        </p:txBody>
      </p:sp>
      <p:sp>
        <p:nvSpPr>
          <p:cNvPr id="10" name="texto-351"/>
          <p:cNvSpPr txBox="1"/>
          <p:nvPr/>
        </p:nvSpPr>
        <p:spPr>
          <a:xfrm>
            <a:off x="6429604" y="2075688"/>
            <a:ext cx="4993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Combustible con datos públicos</a:t>
            </a:r>
            <a:endParaRPr lang="en-US" sz="2000" dirty="0"/>
          </a:p>
        </p:txBody>
      </p:sp>
      <p:sp>
        <p:nvSpPr>
          <p:cNvPr id="11" name="texto-352"/>
          <p:cNvSpPr txBox="1"/>
          <p:nvPr/>
        </p:nvSpPr>
        <p:spPr>
          <a:xfrm>
            <a:off x="6429604" y="2551176"/>
            <a:ext cx="4993996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chemeClr val="tx1"/>
                </a:solidFill>
              </a:rPr>
              <a:t>Desde la web de estadísticas CORES: navegó el árbol, aplicó filtros, bajó los Excel e hizo 7 páginas con la evolución mensual.</a:t>
            </a:r>
            <a:endParaRPr lang="en-US" sz="1650" dirty="0"/>
          </a:p>
        </p:txBody>
      </p:sp>
      <p:sp>
        <p:nvSpPr>
          <p:cNvPr id="12" name="caja-353"/>
          <p:cNvSpPr/>
          <p:nvPr/>
        </p:nvSpPr>
        <p:spPr>
          <a:xfrm>
            <a:off x="548640" y="3634740"/>
            <a:ext cx="5432908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/>
        </p:spPr>
      </p:sp>
      <p:sp>
        <p:nvSpPr>
          <p:cNvPr id="13" name="texto-354"/>
          <p:cNvSpPr txBox="1"/>
          <p:nvPr/>
        </p:nvSpPr>
        <p:spPr>
          <a:xfrm>
            <a:off x="768096" y="3854196"/>
            <a:ext cx="499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MCP</a:t>
            </a:r>
            <a:endParaRPr lang="en-US" sz="1050" dirty="0"/>
          </a:p>
        </p:txBody>
      </p:sp>
      <p:sp>
        <p:nvSpPr>
          <p:cNvPr id="14" name="texto-355"/>
          <p:cNvSpPr txBox="1"/>
          <p:nvPr/>
        </p:nvSpPr>
        <p:spPr>
          <a:xfrm>
            <a:off x="768096" y="4110228"/>
            <a:ext cx="4993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Ventas comparadas</a:t>
            </a:r>
            <a:endParaRPr lang="en-US" sz="2000" dirty="0"/>
          </a:p>
        </p:txBody>
      </p:sp>
      <p:sp>
        <p:nvSpPr>
          <p:cNvPr id="15" name="texto-356"/>
          <p:cNvSpPr txBox="1"/>
          <p:nvPr/>
        </p:nvSpPr>
        <p:spPr>
          <a:xfrm>
            <a:off x="768096" y="4585716"/>
            <a:ext cx="4993996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chemeClr val="tx1"/>
                </a:solidFill>
              </a:rPr>
              <a:t>De la base de datos al correo: venta por centro, comparada con el mes anterior, con la tabla de cómo lo calculó.</a:t>
            </a:r>
            <a:endParaRPr lang="en-US" sz="1650" dirty="0"/>
          </a:p>
        </p:txBody>
      </p:sp>
      <p:sp>
        <p:nvSpPr>
          <p:cNvPr id="16" name="caja-357"/>
          <p:cNvSpPr/>
          <p:nvPr/>
        </p:nvSpPr>
        <p:spPr>
          <a:xfrm>
            <a:off x="6210148" y="3634740"/>
            <a:ext cx="5432908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/>
        </p:spPr>
      </p:sp>
      <p:sp>
        <p:nvSpPr>
          <p:cNvPr id="17" name="texto-358"/>
          <p:cNvSpPr txBox="1"/>
          <p:nvPr/>
        </p:nvSpPr>
        <p:spPr>
          <a:xfrm>
            <a:off x="6429604" y="3854196"/>
            <a:ext cx="499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NAVEGADOR</a:t>
            </a:r>
            <a:endParaRPr lang="en-US" sz="1050" dirty="0"/>
          </a:p>
        </p:txBody>
      </p:sp>
      <p:sp>
        <p:nvSpPr>
          <p:cNvPr id="18" name="texto-359"/>
          <p:cNvSpPr txBox="1"/>
          <p:nvPr/>
        </p:nvSpPr>
        <p:spPr>
          <a:xfrm>
            <a:off x="6429604" y="4110228"/>
            <a:ext cx="4993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Un viaje de empresa</a:t>
            </a:r>
            <a:endParaRPr lang="en-US" sz="2000" dirty="0"/>
          </a:p>
        </p:txBody>
      </p:sp>
      <p:sp>
        <p:nvSpPr>
          <p:cNvPr id="19" name="texto-360"/>
          <p:cNvSpPr txBox="1"/>
          <p:nvPr/>
        </p:nvSpPr>
        <p:spPr>
          <a:xfrm>
            <a:off x="6429604" y="4585716"/>
            <a:ext cx="4993996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dirty="0">
                <a:solidFill>
                  <a:schemeClr val="tx1"/>
                </a:solidFill>
              </a:rPr>
              <a:t>Busca a los viajeros en el correo, compara vuelos y deja todo listo para que pagues tú.</a:t>
            </a:r>
            <a:endParaRPr lang="en-US" sz="1650" dirty="0"/>
          </a:p>
        </p:txBody>
      </p:sp>
      <p:sp>
        <p:nvSpPr>
          <p:cNvPr id="20" name="caja-361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FF3DA"/>
          </a:solidFill>
          <a:ln/>
        </p:spPr>
      </p:sp>
      <p:sp>
        <p:nvSpPr>
          <p:cNvPr id="21" name="texto-362"/>
          <p:cNvSpPr txBox="1"/>
          <p:nvPr/>
        </p:nvSpPr>
        <p:spPr>
          <a:xfrm>
            <a:off x="777240" y="562356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5A00"/>
                </a:solidFill>
              </a:rPr>
              <a:t>OJO 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Si una tarea usa datos personales de otras personas (DNI, teléfonos…), piensa antes si debes y puedes usarlos.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Skills y el cerebro de la empresa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El contexto que no tienes que repetir cada mañana.</a:t>
            </a:r>
            <a:endParaRPr lang="en-US" sz="1700" dirty="0"/>
          </a:p>
        </p:txBody>
      </p:sp>
      <p:pic>
        <p:nvPicPr>
          <p:cNvPr id="5" name="foto-363" descr="Skills y el cerebro de la empres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06 · SKILLS Y EL CEREBRO DE LA EMPRESA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Qué es una skill</a:t>
            </a:r>
            <a:endParaRPr lang="en-US" sz="3200" dirty="0"/>
          </a:p>
        </p:txBody>
      </p:sp>
      <p:sp>
        <p:nvSpPr>
          <p:cNvPr id="4" name="texto-364"/>
          <p:cNvSpPr txBox="1"/>
          <p:nvPr/>
        </p:nvSpPr>
        <p:spPr>
          <a:xfrm>
            <a:off x="548640" y="1508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No quieres explicarle cada mañana «los 20 gigas de información de la empresa». Una </a:t>
            </a:r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skill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 son instrucciones o información que, al invocarla, «corre primero».</a:t>
            </a:r>
            <a:endParaRPr lang="en-US" sz="1800" dirty="0"/>
          </a:p>
        </p:txBody>
      </p:sp>
      <p:sp>
        <p:nvSpPr>
          <p:cNvPr id="5" name="caja-365"/>
          <p:cNvSpPr/>
          <p:nvPr/>
        </p:nvSpPr>
        <p:spPr>
          <a:xfrm>
            <a:off x="548640" y="2606040"/>
            <a:ext cx="3484778" cy="356616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/>
        </p:spPr>
      </p:sp>
      <p:sp>
        <p:nvSpPr>
          <p:cNvPr id="6" name="texto-366"/>
          <p:cNvSpPr txBox="1"/>
          <p:nvPr/>
        </p:nvSpPr>
        <p:spPr>
          <a:xfrm>
            <a:off x="822960" y="28346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</a:t>
            </a:r>
            <a:endParaRPr lang="en-US" sz="5400" dirty="0"/>
          </a:p>
        </p:txBody>
      </p:sp>
      <p:sp>
        <p:nvSpPr>
          <p:cNvPr id="7" name="texto-367"/>
          <p:cNvSpPr txBox="1"/>
          <p:nvPr/>
        </p:nvSpPr>
        <p:spPr>
          <a:xfrm>
            <a:off x="822960" y="379476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Créala hablando</a:t>
            </a:r>
            <a:endParaRPr lang="en-US" sz="2000" dirty="0"/>
          </a:p>
        </p:txBody>
      </p:sp>
      <p:sp>
        <p:nvSpPr>
          <p:cNvPr id="8" name="texto-368"/>
          <p:cNvSpPr txBox="1"/>
          <p:nvPr/>
        </p:nvSpPr>
        <p:spPr>
          <a:xfrm>
            <a:off x="822960" y="429768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</a:rPr>
              <a:t>«Quiero que me hagas una skill que se llame Bienvenido [empresa], que tenga toda esta información».</a:t>
            </a:r>
            <a:endParaRPr lang="en-US" sz="1650" dirty="0"/>
          </a:p>
        </p:txBody>
      </p:sp>
      <p:sp>
        <p:nvSpPr>
          <p:cNvPr id="9" name="caja-369"/>
          <p:cNvSpPr/>
          <p:nvPr/>
        </p:nvSpPr>
        <p:spPr>
          <a:xfrm>
            <a:off x="4353458" y="2606040"/>
            <a:ext cx="3484778" cy="3566160"/>
          </a:xfrm>
          <a:prstGeom prst="roundRect">
            <a:avLst>
              <a:gd name="adj" fmla="val 3149"/>
            </a:avLst>
          </a:prstGeom>
          <a:solidFill>
            <a:schemeClr val="accent1"/>
          </a:solidFill>
          <a:ln/>
        </p:spPr>
      </p:sp>
      <p:sp>
        <p:nvSpPr>
          <p:cNvPr id="10" name="texto-370"/>
          <p:cNvSpPr txBox="1"/>
          <p:nvPr/>
        </p:nvSpPr>
        <p:spPr>
          <a:xfrm>
            <a:off x="4627778" y="28346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2</a:t>
            </a:r>
            <a:endParaRPr lang="en-US" sz="5400" dirty="0"/>
          </a:p>
        </p:txBody>
      </p:sp>
      <p:sp>
        <p:nvSpPr>
          <p:cNvPr id="11" name="texto-371"/>
          <p:cNvSpPr txBox="1"/>
          <p:nvPr/>
        </p:nvSpPr>
        <p:spPr>
          <a:xfrm>
            <a:off x="4627778" y="379476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Que sea corta</a:t>
            </a:r>
            <a:endParaRPr lang="en-US" sz="2000" dirty="0"/>
          </a:p>
        </p:txBody>
      </p:sp>
      <p:sp>
        <p:nvSpPr>
          <p:cNvPr id="12" name="texto-372"/>
          <p:cNvSpPr txBox="1"/>
          <p:nvPr/>
        </p:nvSpPr>
        <p:spPr>
          <a:xfrm>
            <a:off x="4627778" y="429768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</a:rPr>
              <a:t>Que no pase de unas </a:t>
            </a:r>
            <a:pPr indent="0" marL="0">
              <a:buNone/>
            </a:pPr>
            <a:r>
              <a:rPr lang="en-US" sz="1650" b="1" dirty="0">
                <a:solidFill>
                  <a:schemeClr val="bg1"/>
                </a:solidFill>
              </a:rPr>
              <a:t>2 páginas</a:t>
            </a:r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</a:rPr>
              <a:t>: escueta, casi en formato índice. Si le metes 15 gigas, explota.</a:t>
            </a:r>
            <a:endParaRPr lang="en-US" sz="1650" dirty="0"/>
          </a:p>
        </p:txBody>
      </p:sp>
      <p:sp>
        <p:nvSpPr>
          <p:cNvPr id="13" name="caja-373"/>
          <p:cNvSpPr/>
          <p:nvPr/>
        </p:nvSpPr>
        <p:spPr>
          <a:xfrm>
            <a:off x="8158277" y="2606040"/>
            <a:ext cx="3484778" cy="356616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/>
        </p:spPr>
      </p:sp>
      <p:sp>
        <p:nvSpPr>
          <p:cNvPr id="14" name="texto-374"/>
          <p:cNvSpPr txBox="1"/>
          <p:nvPr/>
        </p:nvSpPr>
        <p:spPr>
          <a:xfrm>
            <a:off x="8432597" y="28346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</a:t>
            </a:r>
            <a:endParaRPr lang="en-US" sz="5400" dirty="0"/>
          </a:p>
        </p:txBody>
      </p:sp>
      <p:sp>
        <p:nvSpPr>
          <p:cNvPr id="15" name="texto-375"/>
          <p:cNvSpPr txBox="1"/>
          <p:nvPr/>
        </p:nvSpPr>
        <p:spPr>
          <a:xfrm>
            <a:off x="8432597" y="379476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Úsala</a:t>
            </a:r>
            <a:endParaRPr lang="en-US" sz="2000" dirty="0"/>
          </a:p>
        </p:txBody>
      </p:sp>
      <p:sp>
        <p:nvSpPr>
          <p:cNvPr id="16" name="texto-376"/>
          <p:cNvSpPr txBox="1"/>
          <p:nvPr/>
        </p:nvSpPr>
        <p:spPr>
          <a:xfrm>
            <a:off x="8432597" y="429768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</a:rPr>
              <a:t>Ahora las lanza solo cuando hablas del tema (a la derecha ves cuáles ha usado), o con la barra «/». A veces hay que pedirle que deje una.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06 · SKILLS Y EL CEREBRO DE LA EMPRESA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Tipos de skill</a:t>
            </a:r>
            <a:endParaRPr lang="en-US" sz="3200" dirty="0"/>
          </a:p>
        </p:txBody>
      </p:sp>
      <p:sp>
        <p:nvSpPr>
          <p:cNvPr id="4" name="caja-377"/>
          <p:cNvSpPr/>
          <p:nvPr/>
        </p:nvSpPr>
        <p:spPr>
          <a:xfrm>
            <a:off x="548640" y="1600200"/>
            <a:ext cx="2072579" cy="361188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</p:spPr>
      </p:sp>
      <p:sp>
        <p:nvSpPr>
          <p:cNvPr id="5" name="texto-378"/>
          <p:cNvSpPr txBox="1"/>
          <p:nvPr/>
        </p:nvSpPr>
        <p:spPr>
          <a:xfrm>
            <a:off x="731520" y="1783080"/>
            <a:ext cx="1706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CONTEXTO</a:t>
            </a:r>
            <a:endParaRPr lang="en-US" sz="1050" dirty="0"/>
          </a:p>
        </p:txBody>
      </p:sp>
      <p:sp>
        <p:nvSpPr>
          <p:cNvPr id="6" name="texto-379"/>
          <p:cNvSpPr txBox="1"/>
          <p:nvPr/>
        </p:nvSpPr>
        <p:spPr>
          <a:xfrm>
            <a:off x="731520" y="2039112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1"/>
                </a:solidFill>
              </a:rPr>
              <a:t>Índice de tus carpetas</a:t>
            </a:r>
            <a:endParaRPr lang="en-US" sz="1650" dirty="0"/>
          </a:p>
        </p:txBody>
      </p:sp>
      <p:sp>
        <p:nvSpPr>
          <p:cNvPr id="7" name="texto-380"/>
          <p:cNvSpPr txBox="1"/>
          <p:nvPr/>
        </p:nvSpPr>
        <p:spPr>
          <a:xfrm>
            <a:off x="731520" y="2642616"/>
            <a:ext cx="1706819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Dice qué hay en cada carpeta de un repositorio grande. Truco de Rubén: pídele primero un inventario de dónde está cada cosa, y con eso haces la skill.</a:t>
            </a:r>
            <a:endParaRPr lang="en-US" sz="1400" dirty="0"/>
          </a:p>
        </p:txBody>
      </p:sp>
      <p:sp>
        <p:nvSpPr>
          <p:cNvPr id="8" name="caja-381"/>
          <p:cNvSpPr/>
          <p:nvPr/>
        </p:nvSpPr>
        <p:spPr>
          <a:xfrm>
            <a:off x="2804099" y="1600200"/>
            <a:ext cx="2072579" cy="361188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</p:spPr>
      </p:sp>
      <p:sp>
        <p:nvSpPr>
          <p:cNvPr id="9" name="texto-382"/>
          <p:cNvSpPr txBox="1"/>
          <p:nvPr/>
        </p:nvSpPr>
        <p:spPr>
          <a:xfrm>
            <a:off x="2986979" y="1783080"/>
            <a:ext cx="1706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LOOK &amp; FEEL</a:t>
            </a:r>
            <a:endParaRPr lang="en-US" sz="1050" dirty="0"/>
          </a:p>
        </p:txBody>
      </p:sp>
      <p:sp>
        <p:nvSpPr>
          <p:cNvPr id="10" name="texto-383"/>
          <p:cNvSpPr txBox="1"/>
          <p:nvPr/>
        </p:nvSpPr>
        <p:spPr>
          <a:xfrm>
            <a:off x="2986979" y="2039112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1"/>
                </a:solidFill>
              </a:rPr>
              <a:t>Estilo y marca</a:t>
            </a:r>
            <a:endParaRPr lang="en-US" sz="1650" dirty="0"/>
          </a:p>
        </p:txBody>
      </p:sp>
      <p:sp>
        <p:nvSpPr>
          <p:cNvPr id="11" name="texto-384"/>
          <p:cNvSpPr txBox="1"/>
          <p:nvPr/>
        </p:nvSpPr>
        <p:spPr>
          <a:xfrm>
            <a:off x="2986979" y="2642616"/>
            <a:ext cx="1706819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Colores, logo y tipografía para que todos los PDF y presentaciones salgan con tu imagen y dejen de «parecer Claude».</a:t>
            </a:r>
            <a:endParaRPr lang="en-US" sz="1400" dirty="0"/>
          </a:p>
        </p:txBody>
      </p:sp>
      <p:sp>
        <p:nvSpPr>
          <p:cNvPr id="12" name="caja-385"/>
          <p:cNvSpPr/>
          <p:nvPr/>
        </p:nvSpPr>
        <p:spPr>
          <a:xfrm>
            <a:off x="5059558" y="1600200"/>
            <a:ext cx="2072579" cy="361188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</p:spPr>
      </p:sp>
      <p:sp>
        <p:nvSpPr>
          <p:cNvPr id="13" name="texto-386"/>
          <p:cNvSpPr txBox="1"/>
          <p:nvPr/>
        </p:nvSpPr>
        <p:spPr>
          <a:xfrm>
            <a:off x="5242438" y="1783080"/>
            <a:ext cx="1706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PRESENTACIONES</a:t>
            </a:r>
            <a:endParaRPr lang="en-US" sz="1050" dirty="0"/>
          </a:p>
        </p:txBody>
      </p:sp>
      <p:sp>
        <p:nvSpPr>
          <p:cNvPr id="14" name="texto-387"/>
          <p:cNvSpPr txBox="1"/>
          <p:nvPr/>
        </p:nvSpPr>
        <p:spPr>
          <a:xfrm>
            <a:off x="5242438" y="2039112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1"/>
                </a:solidFill>
              </a:rPr>
              <a:t>Sistema de diseño</a:t>
            </a:r>
            <a:endParaRPr lang="en-US" sz="1650" dirty="0"/>
          </a:p>
        </p:txBody>
      </p:sp>
      <p:sp>
        <p:nvSpPr>
          <p:cNvPr id="15" name="texto-388"/>
          <p:cNvSpPr txBox="1"/>
          <p:nvPr/>
        </p:nvSpPr>
        <p:spPr>
          <a:xfrm>
            <a:off x="5242438" y="2642616"/>
            <a:ext cx="1706819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«Te paso una presentación que me gusta: sácame el sistema de diseño, colores con su código, tipografía y tamaños». Se guarda como skill.</a:t>
            </a:r>
            <a:endParaRPr lang="en-US" sz="1400" dirty="0"/>
          </a:p>
        </p:txBody>
      </p:sp>
      <p:sp>
        <p:nvSpPr>
          <p:cNvPr id="16" name="caja-389"/>
          <p:cNvSpPr/>
          <p:nvPr/>
        </p:nvSpPr>
        <p:spPr>
          <a:xfrm>
            <a:off x="7315017" y="1600200"/>
            <a:ext cx="2072579" cy="361188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</p:spPr>
      </p:sp>
      <p:sp>
        <p:nvSpPr>
          <p:cNvPr id="17" name="texto-390"/>
          <p:cNvSpPr txBox="1"/>
          <p:nvPr/>
        </p:nvSpPr>
        <p:spPr>
          <a:xfrm>
            <a:off x="7497897" y="1783080"/>
            <a:ext cx="1706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ESTILO</a:t>
            </a:r>
            <a:endParaRPr lang="en-US" sz="1050" dirty="0"/>
          </a:p>
        </p:txBody>
      </p:sp>
      <p:sp>
        <p:nvSpPr>
          <p:cNvPr id="18" name="texto-391"/>
          <p:cNvSpPr txBox="1"/>
          <p:nvPr/>
        </p:nvSpPr>
        <p:spPr>
          <a:xfrm>
            <a:off x="7497897" y="2039112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1"/>
                </a:solidFill>
              </a:rPr>
              <a:t>Tu forma de responder</a:t>
            </a:r>
            <a:endParaRPr lang="en-US" sz="1650" dirty="0"/>
          </a:p>
        </p:txBody>
      </p:sp>
      <p:sp>
        <p:nvSpPr>
          <p:cNvPr id="19" name="texto-392"/>
          <p:cNvSpPr txBox="1"/>
          <p:nvPr/>
        </p:nvSpPr>
        <p:spPr>
          <a:xfrm>
            <a:off x="7497897" y="2642616"/>
            <a:ext cx="1706819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«Mira mi correo y cómo respondo, y responde como yo», hasta con tus palabras en inglés. «Después de un rato te conoce mejor que tú».</a:t>
            </a:r>
            <a:endParaRPr lang="en-US" sz="1400" dirty="0"/>
          </a:p>
        </p:txBody>
      </p:sp>
      <p:sp>
        <p:nvSpPr>
          <p:cNvPr id="20" name="caja-393"/>
          <p:cNvSpPr/>
          <p:nvPr/>
        </p:nvSpPr>
        <p:spPr>
          <a:xfrm>
            <a:off x="9570476" y="1600200"/>
            <a:ext cx="2072579" cy="361188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</p:spPr>
      </p:sp>
      <p:sp>
        <p:nvSpPr>
          <p:cNvPr id="21" name="texto-394"/>
          <p:cNvSpPr txBox="1"/>
          <p:nvPr/>
        </p:nvSpPr>
        <p:spPr>
          <a:xfrm>
            <a:off x="9753356" y="1783080"/>
            <a:ext cx="1706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PROCESOS</a:t>
            </a:r>
            <a:endParaRPr lang="en-US" sz="1050" dirty="0"/>
          </a:p>
        </p:txBody>
      </p:sp>
      <p:sp>
        <p:nvSpPr>
          <p:cNvPr id="22" name="texto-395"/>
          <p:cNvSpPr txBox="1"/>
          <p:nvPr/>
        </p:nvSpPr>
        <p:spPr>
          <a:xfrm>
            <a:off x="9753356" y="2039112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1"/>
                </a:solidFill>
              </a:rPr>
              <a:t>Un proceso del área</a:t>
            </a:r>
            <a:endParaRPr lang="en-US" sz="1650" dirty="0"/>
          </a:p>
        </p:txBody>
      </p:sp>
      <p:sp>
        <p:nvSpPr>
          <p:cNvPr id="23" name="texto-396"/>
          <p:cNvSpPr txBox="1"/>
          <p:nvPr/>
        </p:nvSpPr>
        <p:spPr>
          <a:xfrm>
            <a:off x="9753356" y="2642616"/>
            <a:ext cx="1706819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Alguien que domina un proceso lo deja en una skill y otra persona lo ejecuta para repetirlo igual.</a:t>
            </a:r>
            <a:endParaRPr lang="en-US" sz="1400" dirty="0"/>
          </a:p>
        </p:txBody>
      </p:sp>
      <p:sp>
        <p:nvSpPr>
          <p:cNvPr id="24" name="caja-397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5" name="texto-398"/>
          <p:cNvSpPr txBox="1"/>
          <p:nvPr/>
        </p:nvSpPr>
        <p:spPr>
          <a:xfrm>
            <a:off x="777240" y="544068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La skill es el estilo y la forma de expresarse; el prompt es lo que genera el archivo. Así lo resumió un asistente.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06 · SKILLS Y EL CEREBRO DE LA EMPRESA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Tu primera skill: un índice, y quién accede</a:t>
            </a:r>
            <a:endParaRPr lang="en-US" sz="3200" dirty="0"/>
          </a:p>
        </p:txBody>
      </p:sp>
      <p:sp>
        <p:nvSpPr>
          <p:cNvPr id="4" name="texto-399"/>
          <p:cNvSpPr txBox="1"/>
          <p:nvPr/>
        </p:nvSpPr>
        <p:spPr>
          <a:xfrm>
            <a:off x="548640" y="15727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ESQUELETO DE UNA SKILL ÍNDICE</a:t>
            </a:r>
            <a:endParaRPr lang="en-US" sz="1100" dirty="0"/>
          </a:p>
        </p:txBody>
      </p:sp>
      <p:sp>
        <p:nvSpPr>
          <p:cNvPr id="5" name="caja-400"/>
          <p:cNvSpPr/>
          <p:nvPr/>
        </p:nvSpPr>
        <p:spPr>
          <a:xfrm>
            <a:off x="548640" y="1901952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FBF4EF"/>
          </a:solidFill>
          <a:ln/>
        </p:spPr>
      </p:sp>
      <p:sp>
        <p:nvSpPr>
          <p:cNvPr id="6" name="texto-401"/>
          <p:cNvSpPr txBox="1"/>
          <p:nvPr/>
        </p:nvSpPr>
        <p:spPr>
          <a:xfrm>
            <a:off x="822960" y="21031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Bienvenido [empresa]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qué sirve: [una línea]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Dónde está cada cosa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[carpeta]: [qué hay]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[carpeta]: [qué hay]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Normas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Lee solo la carpeta que necesites.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inventes lo que no esté.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Respeta los permisos de cada carpeta.</a:t>
            </a:r>
            <a:endParaRPr lang="en-US" sz="1450" dirty="0"/>
          </a:p>
        </p:txBody>
      </p:sp>
      <p:sp>
        <p:nvSpPr>
          <p:cNvPr id="7" name="texto-402"/>
          <p:cNvSpPr txBox="1"/>
          <p:nvPr/>
        </p:nvSpPr>
        <p:spPr>
          <a:xfrm>
            <a:off x="548640" y="5669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Máximo, unas 2 páginas. Truco: pídele primero un inventario de dónde está cada cosa.</a:t>
            </a:r>
            <a:endParaRPr lang="en-US" sz="1250" dirty="0"/>
          </a:p>
        </p:txBody>
      </p:sp>
      <p:sp>
        <p:nvSpPr>
          <p:cNvPr id="8" name="texto-403"/>
          <p:cNvSpPr txBox="1"/>
          <p:nvPr/>
        </p:nvSpPr>
        <p:spPr>
          <a:xfrm>
            <a:off x="6263640" y="15727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ACCESOS Y COMPARTIR</a:t>
            </a:r>
            <a:endParaRPr lang="en-US" sz="1100" dirty="0"/>
          </a:p>
        </p:txBody>
      </p:sp>
      <p:sp>
        <p:nvSpPr>
          <p:cNvPr id="9" name="caja-404"/>
          <p:cNvSpPr/>
          <p:nvPr/>
        </p:nvSpPr>
        <p:spPr>
          <a:xfrm>
            <a:off x="6263640" y="1901952"/>
            <a:ext cx="5376672" cy="969264"/>
          </a:xfrm>
          <a:prstGeom prst="roundRect">
            <a:avLst>
              <a:gd name="adj" fmla="val 11321"/>
            </a:avLst>
          </a:prstGeom>
          <a:solidFill>
            <a:schemeClr val="bg2"/>
          </a:solidFill>
          <a:ln/>
        </p:spPr>
      </p:sp>
      <p:sp>
        <p:nvSpPr>
          <p:cNvPr id="10" name="texto-405"/>
          <p:cNvSpPr txBox="1"/>
          <p:nvPr/>
        </p:nvSpPr>
        <p:spPr>
          <a:xfrm>
            <a:off x="6473952" y="1901952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Tu rol manda.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«El límite de tu acceso viene con tu rol o tu usuario». Claude lo procesa más rápido, pero no llega más lejos que tú.</a:t>
            </a:r>
            <a:endParaRPr lang="en-US" sz="1450" dirty="0"/>
          </a:p>
        </p:txBody>
      </p:sp>
      <p:sp>
        <p:nvSpPr>
          <p:cNvPr id="11" name="caja-406"/>
          <p:cNvSpPr/>
          <p:nvPr/>
        </p:nvSpPr>
        <p:spPr>
          <a:xfrm>
            <a:off x="6263640" y="2980944"/>
            <a:ext cx="5376672" cy="969264"/>
          </a:xfrm>
          <a:prstGeom prst="roundRect">
            <a:avLst>
              <a:gd name="adj" fmla="val 11321"/>
            </a:avLst>
          </a:prstGeom>
          <a:solidFill>
            <a:schemeClr val="bg2"/>
          </a:solidFill>
          <a:ln/>
        </p:spPr>
      </p:sp>
      <p:sp>
        <p:nvSpPr>
          <p:cNvPr id="12" name="texto-407"/>
          <p:cNvSpPr txBox="1"/>
          <p:nvPr/>
        </p:nvSpPr>
        <p:spPr>
          <a:xfrm>
            <a:off x="6473952" y="2980944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Ordena antes.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Lo importante es cómo está organizada la información por niveles de confidencialidad.</a:t>
            </a:r>
            <a:endParaRPr lang="en-US" sz="1450" dirty="0"/>
          </a:p>
        </p:txBody>
      </p:sp>
      <p:sp>
        <p:nvSpPr>
          <p:cNvPr id="13" name="caja-408"/>
          <p:cNvSpPr/>
          <p:nvPr/>
        </p:nvSpPr>
        <p:spPr>
          <a:xfrm>
            <a:off x="6263640" y="4059936"/>
            <a:ext cx="5376672" cy="969264"/>
          </a:xfrm>
          <a:prstGeom prst="roundRect">
            <a:avLst>
              <a:gd name="adj" fmla="val 11321"/>
            </a:avLst>
          </a:prstGeom>
          <a:solidFill>
            <a:schemeClr val="bg2"/>
          </a:solidFill>
          <a:ln/>
        </p:spPr>
      </p:sp>
      <p:sp>
        <p:nvSpPr>
          <p:cNvPr id="14" name="texto-409"/>
          <p:cNvSpPr txBox="1"/>
          <p:nvPr/>
        </p:nvSpPr>
        <p:spPr>
          <a:xfrm>
            <a:off x="6473952" y="40599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IT pone límites.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En empresas grandes IT controla comandos y descargas. Se puede trabajar con Microsoft Entra ID y Bitbucket.</a:t>
            </a:r>
            <a:endParaRPr lang="en-US" sz="1450" dirty="0"/>
          </a:p>
        </p:txBody>
      </p:sp>
      <p:sp>
        <p:nvSpPr>
          <p:cNvPr id="15" name="caja-410"/>
          <p:cNvSpPr/>
          <p:nvPr/>
        </p:nvSpPr>
        <p:spPr>
          <a:xfrm>
            <a:off x="6263640" y="5138928"/>
            <a:ext cx="5376672" cy="969264"/>
          </a:xfrm>
          <a:prstGeom prst="roundRect">
            <a:avLst>
              <a:gd name="adj" fmla="val 11321"/>
            </a:avLst>
          </a:prstGeom>
          <a:solidFill>
            <a:schemeClr val="bg2"/>
          </a:solidFill>
          <a:ln/>
        </p:spPr>
      </p:sp>
      <p:sp>
        <p:nvSpPr>
          <p:cNvPr id="16" name="texto-411"/>
          <p:cNvSpPr txBox="1"/>
          <p:nvPr/>
        </p:nvSpPr>
        <p:spPr>
          <a:xfrm>
            <a:off x="6473952" y="5138928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Para compartirlas.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Mejor que la skill apunte a un sitio común (GitHub, Drive o SharePoint) que a una carpeta de tu ordenador. También se pueden enviar por correo.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07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Correo, documentos y presentaciones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Todo a borrador, e informes y presentaciones con tu marca.</a:t>
            </a:r>
            <a:endParaRPr lang="en-US" sz="1700" dirty="0"/>
          </a:p>
        </p:txBody>
      </p:sp>
      <p:pic>
        <p:nvPicPr>
          <p:cNvPr id="5" name="foto-412" descr="Correo, documentos y presentaci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07 · CORREO, DOCUMENTOS Y PRESENTACIONES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Correo: todo a borrador</a:t>
            </a:r>
            <a:endParaRPr lang="en-US" sz="3200" dirty="0"/>
          </a:p>
        </p:txBody>
      </p:sp>
      <p:sp>
        <p:nvSpPr>
          <p:cNvPr id="4" name="texto-413"/>
          <p:cNvSpPr txBox="1"/>
          <p:nvPr/>
        </p:nvSpPr>
        <p:spPr>
          <a:xfrm>
            <a:off x="548640" y="14813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Distingue lo importante de lo publicitario, lo repetitivo y las respuestas automáticas. Con el calendario, tu correo es «una base de datos de información brutal».</a:t>
            </a:r>
            <a:endParaRPr lang="en-US" sz="1600" dirty="0"/>
          </a:p>
        </p:txBody>
      </p:sp>
      <p:sp>
        <p:nvSpPr>
          <p:cNvPr id="5" name="caja-414"/>
          <p:cNvSpPr/>
          <p:nvPr/>
        </p:nvSpPr>
        <p:spPr>
          <a:xfrm>
            <a:off x="548640" y="224028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FFF3DA"/>
          </a:solidFill>
          <a:ln/>
        </p:spPr>
      </p:sp>
      <p:sp>
        <p:nvSpPr>
          <p:cNvPr id="6" name="texto-415"/>
          <p:cNvSpPr txBox="1"/>
          <p:nvPr/>
        </p:nvSpPr>
        <p:spPr>
          <a:xfrm>
            <a:off x="868680" y="2240280"/>
            <a:ext cx="10454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Regla de oro: todo a borrador.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«Cuidado, que es de botón rápido»: si le dices que responda, puede enviar sin que lo leas. Pide que las respuestas se queden en borrador (puedes ponerlo en una skill) y revisa destinatarios antes de enviar.</a:t>
            </a:r>
            <a:endParaRPr lang="en-US" sz="1400" dirty="0"/>
          </a:p>
        </p:txBody>
      </p:sp>
      <p:sp>
        <p:nvSpPr>
          <p:cNvPr id="7" name="caja-416"/>
          <p:cNvSpPr/>
          <p:nvPr/>
        </p:nvSpPr>
        <p:spPr>
          <a:xfrm>
            <a:off x="548640" y="3749040"/>
            <a:ext cx="2622728" cy="2423160"/>
          </a:xfrm>
          <a:prstGeom prst="roundRect">
            <a:avLst>
              <a:gd name="adj" fmla="val 4528"/>
            </a:avLst>
          </a:prstGeom>
          <a:solidFill>
            <a:srgbClr val="FBF4EF"/>
          </a:solidFill>
          <a:ln/>
        </p:spPr>
      </p:sp>
      <p:sp>
        <p:nvSpPr>
          <p:cNvPr id="8" name="texto-417"/>
          <p:cNvSpPr txBox="1"/>
          <p:nvPr/>
        </p:nvSpPr>
        <p:spPr>
          <a:xfrm>
            <a:off x="749808" y="393192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Lo importante de hoy</a:t>
            </a:r>
            <a:endParaRPr lang="en-US" sz="1550" dirty="0"/>
          </a:p>
        </p:txBody>
      </p:sp>
      <p:sp>
        <p:nvSpPr>
          <p:cNvPr id="9" name="texto-418"/>
          <p:cNvSpPr txBox="1"/>
          <p:nvPr/>
        </p:nvSpPr>
        <p:spPr>
          <a:xfrm>
            <a:off x="749808" y="4370832"/>
            <a:ext cx="22203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Hazme el resumen de los correos importantes de esta mañana.</a:t>
            </a:r>
            <a:endParaRPr lang="en-US" sz="1350" dirty="0"/>
          </a:p>
        </p:txBody>
      </p:sp>
      <p:sp>
        <p:nvSpPr>
          <p:cNvPr id="10" name="caja-419"/>
          <p:cNvSpPr/>
          <p:nvPr/>
        </p:nvSpPr>
        <p:spPr>
          <a:xfrm>
            <a:off x="3372536" y="3749040"/>
            <a:ext cx="2622728" cy="2423160"/>
          </a:xfrm>
          <a:prstGeom prst="roundRect">
            <a:avLst>
              <a:gd name="adj" fmla="val 4528"/>
            </a:avLst>
          </a:prstGeom>
          <a:solidFill>
            <a:srgbClr val="FBF4EF"/>
          </a:solidFill>
          <a:ln/>
        </p:spPr>
      </p:sp>
      <p:sp>
        <p:nvSpPr>
          <p:cNvPr id="11" name="texto-420"/>
          <p:cNvSpPr txBox="1"/>
          <p:nvPr/>
        </p:nvSpPr>
        <p:spPr>
          <a:xfrm>
            <a:off x="3573704" y="393192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Lo que se te escapa</a:t>
            </a:r>
            <a:endParaRPr lang="en-US" sz="1550" dirty="0"/>
          </a:p>
        </p:txBody>
      </p:sp>
      <p:sp>
        <p:nvSpPr>
          <p:cNvPr id="12" name="texto-421"/>
          <p:cNvSpPr txBox="1"/>
          <p:nvPr/>
        </p:nvSpPr>
        <p:spPr>
          <a:xfrm>
            <a:off x="3573704" y="4370832"/>
            <a:ext cx="22203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Revísame la última semana y dime si tengo cosas sin contestar.</a:t>
            </a:r>
            <a:endParaRPr lang="en-US" sz="1350" dirty="0"/>
          </a:p>
        </p:txBody>
      </p:sp>
      <p:sp>
        <p:nvSpPr>
          <p:cNvPr id="13" name="caja-422"/>
          <p:cNvSpPr/>
          <p:nvPr/>
        </p:nvSpPr>
        <p:spPr>
          <a:xfrm>
            <a:off x="6196432" y="3749040"/>
            <a:ext cx="2622728" cy="2423160"/>
          </a:xfrm>
          <a:prstGeom prst="roundRect">
            <a:avLst>
              <a:gd name="adj" fmla="val 4528"/>
            </a:avLst>
          </a:prstGeom>
          <a:solidFill>
            <a:srgbClr val="FBF4EF"/>
          </a:solidFill>
          <a:ln/>
        </p:spPr>
      </p:sp>
      <p:sp>
        <p:nvSpPr>
          <p:cNvPr id="14" name="texto-423"/>
          <p:cNvSpPr txBox="1"/>
          <p:nvPr/>
        </p:nvSpPr>
        <p:spPr>
          <a:xfrm>
            <a:off x="6397600" y="393192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Respuestas en borrador</a:t>
            </a:r>
            <a:endParaRPr lang="en-US" sz="1550" dirty="0"/>
          </a:p>
        </p:txBody>
      </p:sp>
      <p:sp>
        <p:nvSpPr>
          <p:cNvPr id="15" name="texto-424"/>
          <p:cNvSpPr txBox="1"/>
          <p:nvPr/>
        </p:nvSpPr>
        <p:spPr>
          <a:xfrm>
            <a:off x="6397600" y="4370832"/>
            <a:ext cx="22203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Hazme una propuesta de respuesta en formato borrador para los correos que me quedan sin contestar.</a:t>
            </a:r>
            <a:endParaRPr lang="en-US" sz="1350" dirty="0"/>
          </a:p>
        </p:txBody>
      </p:sp>
      <p:sp>
        <p:nvSpPr>
          <p:cNvPr id="16" name="caja-425"/>
          <p:cNvSpPr/>
          <p:nvPr/>
        </p:nvSpPr>
        <p:spPr>
          <a:xfrm>
            <a:off x="9020327" y="3749040"/>
            <a:ext cx="2622728" cy="2423160"/>
          </a:xfrm>
          <a:prstGeom prst="roundRect">
            <a:avLst>
              <a:gd name="adj" fmla="val 4528"/>
            </a:avLst>
          </a:prstGeom>
          <a:solidFill>
            <a:srgbClr val="FBF4EF"/>
          </a:solidFill>
          <a:ln/>
        </p:spPr>
      </p:sp>
      <p:sp>
        <p:nvSpPr>
          <p:cNvPr id="17" name="texto-426"/>
          <p:cNvSpPr txBox="1"/>
          <p:nvPr/>
        </p:nvSpPr>
        <p:spPr>
          <a:xfrm>
            <a:off x="9221495" y="393192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Ordenar la bandeja</a:t>
            </a:r>
            <a:endParaRPr lang="en-US" sz="1550" dirty="0"/>
          </a:p>
        </p:txBody>
      </p:sp>
      <p:sp>
        <p:nvSpPr>
          <p:cNvPr id="18" name="texto-427"/>
          <p:cNvSpPr txBox="1"/>
          <p:nvPr/>
        </p:nvSpPr>
        <p:spPr>
          <a:xfrm>
            <a:off x="9221495" y="4370832"/>
            <a:ext cx="22203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Propónme una estructura de etiquetas para mi correo y, cuando la apruebe, ordena los correos de los últimos 15 días.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07 · CORREO, DOCUMENTOS Y PRESENTACIONES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Informes con tu formato y presentaciones con tu marca</a:t>
            </a:r>
            <a:endParaRPr lang="en-US" sz="3200" dirty="0"/>
          </a:p>
        </p:txBody>
      </p:sp>
      <p:sp>
        <p:nvSpPr>
          <p:cNvPr id="4" name="texto-428"/>
          <p:cNvSpPr txBox="1"/>
          <p:nvPr/>
        </p:nvSpPr>
        <p:spPr>
          <a:xfrm>
            <a:off x="548640" y="157276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QUÉ TE DA SEGÚN LO QUE PIDAS</a:t>
            </a:r>
            <a:endParaRPr lang="en-US" sz="1100" dirty="0"/>
          </a:p>
        </p:txBody>
      </p:sp>
      <p:graphicFrame>
        <p:nvGraphicFramePr>
          <p:cNvPr id="32" name="tabla-4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394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4A5466"/>
                          </a:solidFill>
                        </a:rPr>
                        <a:t>SI PIDES…</a:t>
                      </a:r>
                      <a:endParaRPr lang="en-US" sz="1100" dirty="0"/>
                    </a:p>
                  </a:txBody>
                  <a:tcPr marL="109728" marR="109728" marT="82296" marB="8229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4A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4A5466"/>
                          </a:solidFill>
                        </a:rPr>
                        <a:t>LO QUE HACE</a:t>
                      </a:r>
                      <a:endParaRPr lang="en-US" sz="1100" dirty="0"/>
                    </a:p>
                  </a:txBody>
                  <a:tcPr marL="109728" marR="109728" marT="82296" marB="8229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4A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Nada en concreto</a:t>
                      </a:r>
                      <a:endParaRPr lang="en-US" sz="145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Tiende a darte HTML. «Difícilmente compartible y difícil para el móvil».</a:t>
                      </a:r>
                      <a:endParaRPr lang="en-US" sz="145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Un documento</a:t>
                      </a:r>
                      <a:endParaRPr lang="en-US" sz="145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Word, si no dices otra cosa.</a:t>
                      </a:r>
                      <a:endParaRPr lang="en-US" sz="145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PDF</a:t>
                      </a:r>
                      <a:endParaRPr lang="en-US" sz="145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Lo genera y, si Drive está conectado, lo deja en tu carpeta.</a:t>
                      </a:r>
                      <a:endParaRPr lang="en-US" sz="145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PowerPoint editable</a:t>
                      </a:r>
                      <a:endParaRPr lang="en-US" sz="145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También: lo propuso una asistente en la sala.</a:t>
                      </a:r>
                      <a:endParaRPr lang="en-US" sz="1450" dirty="0"/>
                    </a:p>
                  </a:txBody>
                  <a:tcPr marL="109728" marR="109728" marT="82296" marB="8229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ja-430"/>
          <p:cNvSpPr/>
          <p:nvPr/>
        </p:nvSpPr>
        <p:spPr>
          <a:xfrm>
            <a:off x="548640" y="5074920"/>
            <a:ext cx="53949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7" name="texto-431"/>
          <p:cNvSpPr txBox="1"/>
          <p:nvPr/>
        </p:nvSpPr>
        <p:spPr>
          <a:xfrm>
            <a:off x="777240" y="50749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Los documentos «parecen muy Claude»: burbujas, porcentajes y colores. Se arregla con una skill de estilo de la casa, para que salgan con tu marca.</a:t>
            </a:r>
            <a:endParaRPr lang="en-US" sz="1400" dirty="0"/>
          </a:p>
        </p:txBody>
      </p:sp>
      <p:sp>
        <p:nvSpPr>
          <p:cNvPr id="8" name="texto-432"/>
          <p:cNvSpPr txBox="1"/>
          <p:nvPr/>
        </p:nvSpPr>
        <p:spPr>
          <a:xfrm>
            <a:off x="6355080" y="157276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PRESENTACIONES CON TU MARCA</a:t>
            </a:r>
            <a:endParaRPr lang="en-US" sz="1100" dirty="0"/>
          </a:p>
        </p:txBody>
      </p:sp>
      <p:sp>
        <p:nvSpPr>
          <p:cNvPr id="9" name="circulo-433"/>
          <p:cNvSpPr/>
          <p:nvPr/>
        </p:nvSpPr>
        <p:spPr>
          <a:xfrm>
            <a:off x="6355080" y="19202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o-434"/>
          <p:cNvSpPr txBox="1"/>
          <p:nvPr/>
        </p:nvSpPr>
        <p:spPr>
          <a:xfrm>
            <a:off x="635508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o-435"/>
          <p:cNvSpPr txBox="1"/>
          <p:nvPr/>
        </p:nvSpPr>
        <p:spPr>
          <a:xfrm>
            <a:off x="6949440" y="1892808"/>
            <a:ext cx="46908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Saca tu sistema de diseño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chemeClr val="accent5"/>
                </a:solidFill>
              </a:rPr>
              <a:t>Pásale una presentación que te guste y pídele colores con su código, tipografía, tamaños y una plantilla de unas 10 diapositivas (portada, intermedias, contenido, huecos para fotos e índice).</a:t>
            </a:r>
            <a:endParaRPr lang="en-US" sz="1400" dirty="0"/>
          </a:p>
        </p:txBody>
      </p:sp>
      <p:sp>
        <p:nvSpPr>
          <p:cNvPr id="12" name="circulo-436"/>
          <p:cNvSpPr/>
          <p:nvPr/>
        </p:nvSpPr>
        <p:spPr>
          <a:xfrm>
            <a:off x="6355080" y="31089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o-437"/>
          <p:cNvSpPr txBox="1"/>
          <p:nvPr/>
        </p:nvSpPr>
        <p:spPr>
          <a:xfrm>
            <a:off x="635508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o-438"/>
          <p:cNvSpPr txBox="1"/>
          <p:nvPr/>
        </p:nvSpPr>
        <p:spPr>
          <a:xfrm>
            <a:off x="6949440" y="3081528"/>
            <a:ext cx="46908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Guárdalo como skill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chemeClr val="accent5"/>
                </a:solidFill>
              </a:rPr>
              <a:t>Que apunte a un repositorio con el logo y una presentación de prueba.</a:t>
            </a:r>
            <a:endParaRPr lang="en-US" sz="1400" dirty="0"/>
          </a:p>
        </p:txBody>
      </p:sp>
      <p:sp>
        <p:nvSpPr>
          <p:cNvPr id="15" name="circulo-439"/>
          <p:cNvSpPr/>
          <p:nvPr/>
        </p:nvSpPr>
        <p:spPr>
          <a:xfrm>
            <a:off x="6355080" y="42976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o-440"/>
          <p:cNvSpPr txBox="1"/>
          <p:nvPr/>
        </p:nvSpPr>
        <p:spPr>
          <a:xfrm>
            <a:off x="635508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o-441"/>
          <p:cNvSpPr txBox="1"/>
          <p:nvPr/>
        </p:nvSpPr>
        <p:spPr>
          <a:xfrm>
            <a:off x="6949440" y="4270248"/>
            <a:ext cx="46908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Pide la presentación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chemeClr val="accent5"/>
                </a:solidFill>
              </a:rPr>
              <a:t>«Hazme la presentación de la reunión de este mes», con la carpeta de las anteriores. Sale con el orden y el número de diapositivas de siempre.</a:t>
            </a:r>
            <a:endParaRPr lang="en-US" sz="1400" dirty="0"/>
          </a:p>
        </p:txBody>
      </p:sp>
      <p:sp>
        <p:nvSpPr>
          <p:cNvPr id="18" name="texto-442"/>
          <p:cNvSpPr txBox="1"/>
          <p:nvPr/>
        </p:nvSpPr>
        <p:spPr>
          <a:xfrm>
            <a:off x="6355080" y="5486400"/>
            <a:ext cx="5285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«Así deja de parecer Claude: se parece a las viejas tuyas.»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08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Claude Code para no programadores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Software propio sin saber programar.</a:t>
            </a:r>
            <a:endParaRPr lang="en-US" sz="1700" dirty="0"/>
          </a:p>
        </p:txBody>
      </p:sp>
      <p:pic>
        <p:nvPicPr>
          <p:cNvPr id="5" name="foto-443" descr="Claude Code para no programado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08 · CLAUDE CODE PARA NO PROGRAMADORES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Qué es Claude Code</a:t>
            </a:r>
            <a:endParaRPr lang="en-US" sz="3200" dirty="0"/>
          </a:p>
        </p:txBody>
      </p:sp>
      <p:sp>
        <p:nvSpPr>
          <p:cNvPr id="4" name="texto-444"/>
          <p:cNvSpPr txBox="1"/>
          <p:nvPr/>
        </p:nvSpPr>
        <p:spPr>
          <a:xfrm>
            <a:off x="548640" y="14813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La parte de Claude para hacer software: una app propia, un script, una tarea que se ejecute cada mañana, una app de móvil o un programa con usuario y contraseña.</a:t>
            </a:r>
            <a:endParaRPr lang="en-US" sz="1700" dirty="0"/>
          </a:p>
        </p:txBody>
      </p:sp>
      <p:sp>
        <p:nvSpPr>
          <p:cNvPr id="5" name="caja-445"/>
          <p:cNvSpPr/>
          <p:nvPr/>
        </p:nvSpPr>
        <p:spPr>
          <a:xfrm>
            <a:off x="548640" y="2331720"/>
            <a:ext cx="354573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6" name="texto-446"/>
          <p:cNvSpPr txBox="1"/>
          <p:nvPr/>
        </p:nvSpPr>
        <p:spPr>
          <a:xfrm>
            <a:off x="768096" y="255117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LA DE RUBÉN</a:t>
            </a:r>
            <a:endParaRPr lang="en-US" sz="1050" dirty="0"/>
          </a:p>
        </p:txBody>
      </p:sp>
      <p:sp>
        <p:nvSpPr>
          <p:cNvPr id="7" name="texto-447"/>
          <p:cNvSpPr txBox="1"/>
          <p:nvPr/>
        </p:nvSpPr>
        <p:spPr>
          <a:xfrm>
            <a:off x="768096" y="2807208"/>
            <a:ext cx="3106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App de escritorio</a:t>
            </a:r>
            <a:endParaRPr lang="en-US" sz="1700" dirty="0"/>
          </a:p>
        </p:txBody>
      </p:sp>
      <p:sp>
        <p:nvSpPr>
          <p:cNvPr id="8" name="texto-448"/>
          <p:cNvSpPr txBox="1"/>
          <p:nvPr/>
        </p:nvSpPr>
        <p:spPr>
          <a:xfrm>
            <a:off x="768096" y="3227832"/>
            <a:ext cx="310682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Para quien no programa. «Todo funciona igual».</a:t>
            </a:r>
            <a:endParaRPr lang="en-US" sz="1550" dirty="0"/>
          </a:p>
        </p:txBody>
      </p:sp>
      <p:sp>
        <p:nvSpPr>
          <p:cNvPr id="9" name="caja-449"/>
          <p:cNvSpPr/>
          <p:nvPr/>
        </p:nvSpPr>
        <p:spPr>
          <a:xfrm>
            <a:off x="4322978" y="2331720"/>
            <a:ext cx="354573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texto-450"/>
          <p:cNvSpPr txBox="1"/>
          <p:nvPr/>
        </p:nvSpPr>
        <p:spPr>
          <a:xfrm>
            <a:off x="4542434" y="255117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LA DE DIEGO</a:t>
            </a:r>
            <a:endParaRPr lang="en-US" sz="1050" dirty="0"/>
          </a:p>
        </p:txBody>
      </p:sp>
      <p:sp>
        <p:nvSpPr>
          <p:cNvPr id="11" name="texto-451"/>
          <p:cNvSpPr txBox="1"/>
          <p:nvPr/>
        </p:nvSpPr>
        <p:spPr>
          <a:xfrm>
            <a:off x="4542434" y="2807208"/>
            <a:ext cx="3106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VS Code + extensión</a:t>
            </a:r>
            <a:endParaRPr lang="en-US" sz="1700" dirty="0"/>
          </a:p>
        </p:txBody>
      </p:sp>
      <p:sp>
        <p:nvSpPr>
          <p:cNvPr id="12" name="texto-452"/>
          <p:cNvSpPr txBox="1"/>
          <p:nvPr/>
        </p:nvSpPr>
        <p:spPr>
          <a:xfrm>
            <a:off x="4542434" y="3227832"/>
            <a:ext cx="310682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Visual Studio Code con la extensión de Claude de Anthropic. «Es más para programadores».</a:t>
            </a:r>
            <a:endParaRPr lang="en-US" sz="1550" dirty="0"/>
          </a:p>
        </p:txBody>
      </p:sp>
      <p:sp>
        <p:nvSpPr>
          <p:cNvPr id="13" name="caja-453"/>
          <p:cNvSpPr/>
          <p:nvPr/>
        </p:nvSpPr>
        <p:spPr>
          <a:xfrm>
            <a:off x="8097317" y="2331720"/>
            <a:ext cx="354573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texto-454"/>
          <p:cNvSpPr txBox="1"/>
          <p:nvPr/>
        </p:nvSpPr>
        <p:spPr>
          <a:xfrm>
            <a:off x="8316773" y="255117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CODE</a:t>
            </a:r>
            <a:endParaRPr lang="en-US" sz="1050" dirty="0"/>
          </a:p>
        </p:txBody>
      </p:sp>
      <p:sp>
        <p:nvSpPr>
          <p:cNvPr id="15" name="texto-455"/>
          <p:cNvSpPr txBox="1"/>
          <p:nvPr/>
        </p:nvSpPr>
        <p:spPr>
          <a:xfrm>
            <a:off x="8316773" y="2807208"/>
            <a:ext cx="3106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Desde la web</a:t>
            </a:r>
            <a:endParaRPr lang="en-US" sz="1700" dirty="0"/>
          </a:p>
        </p:txBody>
      </p:sp>
      <p:sp>
        <p:nvSpPr>
          <p:cNvPr id="16" name="texto-456"/>
          <p:cNvSpPr txBox="1"/>
          <p:nvPr/>
        </p:nvSpPr>
        <p:spPr>
          <a:xfrm>
            <a:off x="8316773" y="3227832"/>
            <a:ext cx="310682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También se puede entrar por Code en Claude, aunque a Diego no le parece del todo cómodo.</a:t>
            </a:r>
            <a:endParaRPr lang="en-US" sz="1550" dirty="0"/>
          </a:p>
        </p:txBody>
      </p:sp>
      <p:sp>
        <p:nvSpPr>
          <p:cNvPr id="17" name="caja-457"/>
          <p:cNvSpPr/>
          <p:nvPr/>
        </p:nvSpPr>
        <p:spPr>
          <a:xfrm>
            <a:off x="548640" y="4389120"/>
            <a:ext cx="11094415" cy="178308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/>
        </p:spPr>
      </p:sp>
      <p:sp>
        <p:nvSpPr>
          <p:cNvPr id="18" name="texto-458"/>
          <p:cNvSpPr txBox="1"/>
          <p:nvPr/>
        </p:nvSpPr>
        <p:spPr>
          <a:xfrm>
            <a:off x="868680" y="46177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«No necesitáis conocer los softwares que os instaláis.»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19" name="texto-459"/>
          <p:cNvSpPr txBox="1"/>
          <p:nvPr/>
        </p:nvSpPr>
        <p:spPr>
          <a:xfrm>
            <a:off x="5852160" y="457200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Python, Node, Flutter, Docker, HTML… «Os acabáis de convertir en expertos de todas estas tecnologías». Si no sabes qué usar, te lo propone, y te lo descarga.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08 · CLAUDE CODE PARA NO PROGRAMADORES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Instalar y empezar</a:t>
            </a:r>
            <a:endParaRPr lang="en-US" sz="3200" dirty="0"/>
          </a:p>
        </p:txBody>
      </p:sp>
      <p:sp>
        <p:nvSpPr>
          <p:cNvPr id="4" name="circulo-460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o-461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o-462"/>
          <p:cNvSpPr txBox="1"/>
          <p:nvPr/>
        </p:nvSpPr>
        <p:spPr>
          <a:xfrm>
            <a:off x="1188720" y="1627632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 Claude Code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La app de escritorio, o VS Code con la extensión de Claude (en Extensiones, la de Anthropic). Aparece el icono a la izquierda: nueva sesión y a escribir.</a:t>
            </a:r>
            <a:endParaRPr lang="en-US" sz="1400" dirty="0"/>
          </a:p>
        </p:txBody>
      </p:sp>
      <p:sp>
        <p:nvSpPr>
          <p:cNvPr id="7" name="circulo-463"/>
          <p:cNvSpPr/>
          <p:nvPr/>
        </p:nvSpPr>
        <p:spPr>
          <a:xfrm>
            <a:off x="548640" y="3127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o-464"/>
          <p:cNvSpPr txBox="1"/>
          <p:nvPr/>
        </p:nvSpPr>
        <p:spPr>
          <a:xfrm>
            <a:off x="54864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o-465"/>
          <p:cNvSpPr txBox="1"/>
          <p:nvPr/>
        </p:nvSpPr>
        <p:spPr>
          <a:xfrm>
            <a:off x="1188720" y="310896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 Python y Git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Python desde su web oficial (la parte de descargas), porque los scripts los hará en Python. Git, para poder volver atrás.</a:t>
            </a:r>
            <a:endParaRPr lang="en-US" sz="1400" dirty="0"/>
          </a:p>
        </p:txBody>
      </p:sp>
      <p:sp>
        <p:nvSpPr>
          <p:cNvPr id="10" name="circulo-466"/>
          <p:cNvSpPr/>
          <p:nvPr/>
        </p:nvSpPr>
        <p:spPr>
          <a:xfrm>
            <a:off x="548640" y="46085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o-467"/>
          <p:cNvSpPr txBox="1"/>
          <p:nvPr/>
        </p:nvSpPr>
        <p:spPr>
          <a:xfrm>
            <a:off x="54864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o-468"/>
          <p:cNvSpPr txBox="1"/>
          <p:nvPr/>
        </p:nvSpPr>
        <p:spPr>
          <a:xfrm>
            <a:off x="1188720" y="4590288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Crea tu carpeta de trabajo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Una carpeta (por ejemplo, «Claude») con subcarpetas para apps, extracción de datos… Según la carpeta que abras, verás unas sesiones u otras.</a:t>
            </a:r>
            <a:endParaRPr lang="en-US" sz="1400" dirty="0"/>
          </a:p>
        </p:txBody>
      </p:sp>
      <p:sp>
        <p:nvSpPr>
          <p:cNvPr id="13" name="circulo-469"/>
          <p:cNvSpPr/>
          <p:nvPr/>
        </p:nvSpPr>
        <p:spPr>
          <a:xfrm>
            <a:off x="626364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o-470"/>
          <p:cNvSpPr txBox="1"/>
          <p:nvPr/>
        </p:nvSpPr>
        <p:spPr>
          <a:xfrm>
            <a:off x="6263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o-471"/>
          <p:cNvSpPr txBox="1"/>
          <p:nvPr/>
        </p:nvSpPr>
        <p:spPr>
          <a:xfrm>
            <a:off x="6903720" y="1627632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Dile qué quieres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Una app de móvil, una web, un programa para tu ordenador o un software con URL y usuario. Y cómo quieres trabajar: «al tirón» o paso a paso.</a:t>
            </a:r>
            <a:endParaRPr lang="en-US" sz="1400" dirty="0"/>
          </a:p>
        </p:txBody>
      </p:sp>
      <p:sp>
        <p:nvSpPr>
          <p:cNvPr id="16" name="circulo-472"/>
          <p:cNvSpPr/>
          <p:nvPr/>
        </p:nvSpPr>
        <p:spPr>
          <a:xfrm>
            <a:off x="6263640" y="3127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o-473"/>
          <p:cNvSpPr txBox="1"/>
          <p:nvPr/>
        </p:nvSpPr>
        <p:spPr>
          <a:xfrm>
            <a:off x="626364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o-474"/>
          <p:cNvSpPr txBox="1"/>
          <p:nvPr/>
        </p:nvSpPr>
        <p:spPr>
          <a:xfrm>
            <a:off x="6903720" y="310896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Si te atascas, pregúntale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«Cuando tengáis dudas, preguntadle a Cowork»: mándale una captura de pantalla.</a:t>
            </a:r>
            <a:endParaRPr lang="en-US" sz="1400" dirty="0"/>
          </a:p>
        </p:txBody>
      </p:sp>
      <p:sp>
        <p:nvSpPr>
          <p:cNvPr id="19" name="caja-475"/>
          <p:cNvSpPr/>
          <p:nvPr/>
        </p:nvSpPr>
        <p:spPr>
          <a:xfrm>
            <a:off x="6263640" y="4709160"/>
            <a:ext cx="5376672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0" name="texto-476"/>
          <p:cNvSpPr txBox="1"/>
          <p:nvPr/>
        </p:nvSpPr>
        <p:spPr>
          <a:xfrm>
            <a:off x="6492240" y="4709160"/>
            <a:ext cx="4919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 puede manejar desde el móvil: «te lo pones en el móvil y le dices: prográmame una aplicación».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08 · CLAUDE CODE PARA NO PROGRAMADORES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Permisos y Git</a:t>
            </a:r>
            <a:endParaRPr lang="en-US" sz="3200" dirty="0"/>
          </a:p>
        </p:txBody>
      </p:sp>
      <p:sp>
        <p:nvSpPr>
          <p:cNvPr id="4" name="texto-477"/>
          <p:cNvSpPr txBox="1"/>
          <p:nvPr/>
        </p:nvSpPr>
        <p:spPr>
          <a:xfrm>
            <a:off x="548640" y="157276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TÚ DECIDES CUÁNTO PREGUNTA</a:t>
            </a:r>
            <a:endParaRPr lang="en-US" sz="1100" dirty="0"/>
          </a:p>
        </p:txBody>
      </p:sp>
      <p:sp>
        <p:nvSpPr>
          <p:cNvPr id="5" name="caja-478"/>
          <p:cNvSpPr/>
          <p:nvPr/>
        </p:nvSpPr>
        <p:spPr>
          <a:xfrm>
            <a:off x="548640" y="1901952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6" name="semaforo-479"/>
          <p:cNvSpPr/>
          <p:nvPr/>
        </p:nvSpPr>
        <p:spPr>
          <a:xfrm>
            <a:off x="777240" y="2148840"/>
            <a:ext cx="274320" cy="274320"/>
          </a:xfrm>
          <a:prstGeom prst="ellipse">
            <a:avLst/>
          </a:prstGeom>
          <a:solidFill>
            <a:srgbClr val="2F8F4E"/>
          </a:solidFill>
          <a:ln/>
        </p:spPr>
      </p:sp>
      <p:sp>
        <p:nvSpPr>
          <p:cNvPr id="7" name="texto-480"/>
          <p:cNvSpPr txBox="1"/>
          <p:nvPr/>
        </p:nvSpPr>
        <p:spPr>
          <a:xfrm>
            <a:off x="1234440" y="208483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Manual (por defecto)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«Os va a pedir permiso para todo». </a:t>
            </a:r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</a:rPr>
              <a:t>Para empezar.</a:t>
            </a:r>
            <a:endParaRPr lang="en-US" sz="1400" dirty="0"/>
          </a:p>
        </p:txBody>
      </p:sp>
      <p:sp>
        <p:nvSpPr>
          <p:cNvPr id="8" name="caja-481"/>
          <p:cNvSpPr/>
          <p:nvPr/>
        </p:nvSpPr>
        <p:spPr>
          <a:xfrm>
            <a:off x="548640" y="3319272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9" name="semaforo-482"/>
          <p:cNvSpPr/>
          <p:nvPr/>
        </p:nvSpPr>
        <p:spPr>
          <a:xfrm>
            <a:off x="777240" y="3566160"/>
            <a:ext cx="274320" cy="274320"/>
          </a:xfrm>
          <a:prstGeom prst="ellipse">
            <a:avLst/>
          </a:prstGeom>
          <a:solidFill>
            <a:srgbClr val="E89B00"/>
          </a:solidFill>
          <a:ln/>
        </p:spPr>
      </p:sp>
      <p:sp>
        <p:nvSpPr>
          <p:cNvPr id="10" name="texto-483"/>
          <p:cNvSpPr txBox="1"/>
          <p:nvPr/>
        </p:nvSpPr>
        <p:spPr>
          <a:xfrm>
            <a:off x="1234440" y="350215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Automático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Decide solo lo rutinario. </a:t>
            </a:r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</a:rPr>
              <a:t>Cuando ya te fías del proyecto.</a:t>
            </a:r>
            <a:endParaRPr lang="en-US" sz="1400" dirty="0"/>
          </a:p>
        </p:txBody>
      </p:sp>
      <p:sp>
        <p:nvSpPr>
          <p:cNvPr id="11" name="caja-484"/>
          <p:cNvSpPr/>
          <p:nvPr/>
        </p:nvSpPr>
        <p:spPr>
          <a:xfrm>
            <a:off x="548640" y="4736592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2" name="semaforo-485"/>
          <p:cNvSpPr/>
          <p:nvPr/>
        </p:nvSpPr>
        <p:spPr>
          <a:xfrm>
            <a:off x="777240" y="4983480"/>
            <a:ext cx="274320" cy="274320"/>
          </a:xfrm>
          <a:prstGeom prst="ellipse">
            <a:avLst/>
          </a:prstGeom>
          <a:solidFill>
            <a:srgbClr val="CE0E2D"/>
          </a:solidFill>
          <a:ln/>
        </p:spPr>
      </p:sp>
      <p:sp>
        <p:nvSpPr>
          <p:cNvPr id="13" name="texto-486"/>
          <p:cNvSpPr txBox="1"/>
          <p:nvPr/>
        </p:nvSpPr>
        <p:spPr>
          <a:xfrm>
            <a:off x="1234440" y="491947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Bypass permissions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Pregunta lo conceptual al principio y llega al final sin preguntar. </a:t>
            </a:r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</a:rPr>
              <a:t>Solo en una carpeta de pruebas y con Git.</a:t>
            </a:r>
            <a:endParaRPr lang="en-US" sz="1400" dirty="0"/>
          </a:p>
        </p:txBody>
      </p:sp>
      <p:sp>
        <p:nvSpPr>
          <p:cNvPr id="14" name="texto-487"/>
          <p:cNvSpPr txBox="1"/>
          <p:nvPr/>
        </p:nvSpPr>
        <p:spPr>
          <a:xfrm>
            <a:off x="6355080" y="157276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GIT Y GITHUB</a:t>
            </a:r>
            <a:endParaRPr lang="en-US" sz="1100" dirty="0"/>
          </a:p>
        </p:txBody>
      </p:sp>
      <p:sp>
        <p:nvSpPr>
          <p:cNvPr id="15" name="texto-488"/>
          <p:cNvSpPr txBox="1"/>
          <p:nvPr/>
        </p:nvSpPr>
        <p:spPr>
          <a:xfrm>
            <a:off x="6355080" y="1874520"/>
            <a:ext cx="5285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«El commit es un guardar como.»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16" name="texto-489"/>
          <p:cNvSpPr txBox="1"/>
          <p:nvPr/>
        </p:nvSpPr>
        <p:spPr>
          <a:xfrm>
            <a:off x="6355080" y="2697480"/>
            <a:ext cx="5285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Commits.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Si una versión nueva rompe algo, vuelves a la anterior. Claude se encarga de hacerlos «sin que os enteréis».</a:t>
            </a:r>
            <a:endParaRPr lang="en-US" sz="1450" dirty="0"/>
          </a:p>
        </p:txBody>
      </p:sp>
      <p:sp>
        <p:nvSpPr>
          <p:cNvPr id="17" name="texto-490"/>
          <p:cNvSpPr txBox="1"/>
          <p:nvPr/>
        </p:nvSpPr>
        <p:spPr>
          <a:xfrm>
            <a:off x="6355080" y="3566160"/>
            <a:ext cx="5285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GitHub.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Para compartir entre varios: repositorios públicos o privados, páginas web con un enlace y skills compartidas. Te das de alta con tu cuenta de Google y es gratis.</a:t>
            </a:r>
            <a:endParaRPr lang="en-US" sz="1450" dirty="0"/>
          </a:p>
        </p:txBody>
      </p:sp>
      <p:sp>
        <p:nvSpPr>
          <p:cNvPr id="18" name="texto-491"/>
          <p:cNvSpPr txBox="1"/>
          <p:nvPr/>
        </p:nvSpPr>
        <p:spPr>
          <a:xfrm>
            <a:off x="6355080" y="4434840"/>
            <a:ext cx="5285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Enlaces privados.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«Un dominio súper feo con un token»: si no te lo comparten, no lo tienes.</a:t>
            </a:r>
            <a:endParaRPr lang="en-US" sz="1450" dirty="0"/>
          </a:p>
        </p:txBody>
      </p:sp>
      <p:sp>
        <p:nvSpPr>
          <p:cNvPr id="19" name="texto-492"/>
          <p:cNvSpPr txBox="1"/>
          <p:nvPr/>
        </p:nvSpPr>
        <p:spPr>
          <a:xfrm>
            <a:off x="6355080" y="5303520"/>
            <a:ext cx="5285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En entornos Microsoft.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También funciona con Azure, Bitbucket y Entra ID.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09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Datos: extraer, limpiar y vigilar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De la web a tu Excel, y que se repita solo.</a:t>
            </a:r>
            <a:endParaRPr lang="en-US" sz="1700" dirty="0"/>
          </a:p>
        </p:txBody>
      </p:sp>
      <p:pic>
        <p:nvPicPr>
          <p:cNvPr id="5" name="foto-493" descr="Datos: extraer, limpiar y vigi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09 · DATOS: EXTRAER, LIMPIAR Y VIGILAR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Extraer datos de la web</a:t>
            </a:r>
            <a:endParaRPr lang="en-US" sz="3200" dirty="0"/>
          </a:p>
        </p:txBody>
      </p:sp>
      <p:sp>
        <p:nvSpPr>
          <p:cNvPr id="4" name="texto-494"/>
          <p:cNvSpPr txBox="1"/>
          <p:nvPr/>
        </p:nvSpPr>
        <p:spPr>
          <a:xfrm>
            <a:off x="548640" y="14813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Las bases de datos «antes se compraban». Ahora le pides el qué y Claude Code monta el script, lo lanza, lo vigila y te deja un Excel que se rellena en tiempo real.</a:t>
            </a:r>
            <a:endParaRPr lang="en-US" sz="1600" dirty="0"/>
          </a:p>
        </p:txBody>
      </p:sp>
      <p:sp>
        <p:nvSpPr>
          <p:cNvPr id="5" name="caja-495"/>
          <p:cNvSpPr/>
          <p:nvPr/>
        </p:nvSpPr>
        <p:spPr>
          <a:xfrm>
            <a:off x="548640" y="2240280"/>
            <a:ext cx="6629400" cy="2606040"/>
          </a:xfrm>
          <a:prstGeom prst="roundRect">
            <a:avLst>
              <a:gd name="adj" fmla="val 4211"/>
            </a:avLst>
          </a:prstGeom>
          <a:solidFill>
            <a:srgbClr val="FBF4EF"/>
          </a:solidFill>
          <a:ln/>
        </p:spPr>
      </p:sp>
      <p:sp>
        <p:nvSpPr>
          <p:cNvPr id="6" name="texto-496"/>
          <p:cNvSpPr txBox="1"/>
          <p:nvPr/>
        </p:nvSpPr>
        <p:spPr>
          <a:xfrm>
            <a:off x="768096" y="2459736"/>
            <a:ext cx="6190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CLAUDE CODE</a:t>
            </a:r>
            <a:endParaRPr lang="en-US" sz="1050" dirty="0"/>
          </a:p>
        </p:txBody>
      </p:sp>
      <p:sp>
        <p:nvSpPr>
          <p:cNvPr id="7" name="texto-497"/>
          <p:cNvSpPr txBox="1"/>
          <p:nvPr/>
        </p:nvSpPr>
        <p:spPr>
          <a:xfrm>
            <a:off x="768096" y="2715768"/>
            <a:ext cx="6190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Talleres de una zona</a:t>
            </a:r>
            <a:endParaRPr lang="en-US" sz="1600" dirty="0"/>
          </a:p>
        </p:txBody>
      </p:sp>
      <p:sp>
        <p:nvSpPr>
          <p:cNvPr id="8" name="caja-498"/>
          <p:cNvSpPr/>
          <p:nvPr/>
        </p:nvSpPr>
        <p:spPr>
          <a:xfrm>
            <a:off x="713232" y="3154680"/>
            <a:ext cx="6300216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/>
        </p:spPr>
      </p:sp>
      <p:sp>
        <p:nvSpPr>
          <p:cNvPr id="9" name="texto-499"/>
          <p:cNvSpPr txBox="1"/>
          <p:nvPr/>
        </p:nvSpPr>
        <p:spPr>
          <a:xfrm>
            <a:off x="841248" y="3246120"/>
            <a:ext cx="6044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Quiero una base de datos de los talleres de Madrid y Guadalajara: nombre, teléfono, dirección, web, categoría, valoración y coordenadas. Móntate un script en Node que recorra Google Maps por cuadrículas y vaya guardando en un Excel con tres hojas. Haz las consultas con esperas aleatorias de 3 a 25 segundos y guarda cada poco, para poder seguir si se corta.</a:t>
            </a:r>
            <a:endParaRPr lang="en-US" sz="1350" dirty="0"/>
          </a:p>
        </p:txBody>
      </p:sp>
      <p:sp>
        <p:nvSpPr>
          <p:cNvPr id="10" name="caja-500"/>
          <p:cNvSpPr/>
          <p:nvPr/>
        </p:nvSpPr>
        <p:spPr>
          <a:xfrm>
            <a:off x="7406640" y="2240280"/>
            <a:ext cx="4233672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/>
        </p:spPr>
      </p:sp>
      <p:sp>
        <p:nvSpPr>
          <p:cNvPr id="11" name="texto-501"/>
          <p:cNvSpPr txBox="1"/>
          <p:nvPr/>
        </p:nvSpPr>
        <p:spPr>
          <a:xfrm>
            <a:off x="7662672" y="2331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7.175</a:t>
            </a:r>
            <a:endParaRPr lang="en-US" sz="4800" dirty="0"/>
          </a:p>
        </p:txBody>
      </p:sp>
      <p:sp>
        <p:nvSpPr>
          <p:cNvPr id="12" name="texto-502"/>
          <p:cNvSpPr txBox="1"/>
          <p:nvPr/>
        </p:nvSpPr>
        <p:spPr>
          <a:xfrm>
            <a:off x="7662672" y="30906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talleres en alrededor de una hora, separados en mecánicos, carroceros y cristales</a:t>
            </a:r>
            <a:endParaRPr lang="en-US" sz="1350" dirty="0"/>
          </a:p>
        </p:txBody>
      </p:sp>
      <p:sp>
        <p:nvSpPr>
          <p:cNvPr id="13" name="caja-503"/>
          <p:cNvSpPr/>
          <p:nvPr/>
        </p:nvSpPr>
        <p:spPr>
          <a:xfrm>
            <a:off x="7406640" y="3931920"/>
            <a:ext cx="4233672" cy="914400"/>
          </a:xfrm>
          <a:prstGeom prst="roundRect">
            <a:avLst>
              <a:gd name="adj" fmla="val 12000"/>
            </a:avLst>
          </a:prstGeom>
          <a:solidFill>
            <a:srgbClr val="FFF3DA"/>
          </a:solidFill>
          <a:ln/>
        </p:spPr>
      </p:sp>
      <p:sp>
        <p:nvSpPr>
          <p:cNvPr id="14" name="texto-504"/>
          <p:cNvSpPr txBox="1"/>
          <p:nvPr/>
        </p:nvSpPr>
        <p:spPr>
          <a:xfrm>
            <a:off x="7635240" y="3931920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5A00"/>
                </a:solidFill>
              </a:rPr>
              <a:t>OJO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Respeta las condiciones de uso de cada web y no te saltes captchas ni bloqueos. Con datos de contacto para campañas, cumple la normativa.</a:t>
            </a:r>
            <a:endParaRPr lang="en-US" sz="1400" dirty="0"/>
          </a:p>
        </p:txBody>
      </p:sp>
      <p:sp>
        <p:nvSpPr>
          <p:cNvPr id="15" name="texto-505"/>
          <p:cNvSpPr txBox="1"/>
          <p:nvPr/>
        </p:nvSpPr>
        <p:spPr>
          <a:xfrm>
            <a:off x="548640" y="5074920"/>
            <a:ext cx="3545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Sé un poco listo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Si es grande, que vaya guardando por el camino y pueda reanudar.</a:t>
            </a:r>
            <a:endParaRPr lang="en-US" sz="1400" dirty="0"/>
          </a:p>
        </p:txBody>
      </p:sp>
      <p:sp>
        <p:nvSpPr>
          <p:cNvPr id="16" name="texto-506"/>
          <p:cNvSpPr txBox="1"/>
          <p:nvPr/>
        </p:nvSpPr>
        <p:spPr>
          <a:xfrm>
            <a:off x="4322978" y="5074920"/>
            <a:ext cx="3545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No se lo inventa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«Si hay alguna cosa que no tiene capacidad, no se lo inventa».</a:t>
            </a:r>
            <a:endParaRPr lang="en-US" sz="1400" dirty="0"/>
          </a:p>
        </p:txBody>
      </p:sp>
      <p:sp>
        <p:nvSpPr>
          <p:cNvPr id="17" name="texto-507"/>
          <p:cNvSpPr txBox="1"/>
          <p:nvPr/>
        </p:nvSpPr>
        <p:spPr>
          <a:xfrm>
            <a:off x="8097317" y="5074920"/>
            <a:ext cx="3545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Con interfaz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chemeClr val="accent5"/>
                </a:solidFill>
              </a:rPr>
              <a:t>Puede hacerte una ventanita: eliges categoría y provincia y te deja el Excel.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09 · DATOS: EXTRAER, LIMPIAR Y VIGILAR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Limpiar, confiar y que se repita solo</a:t>
            </a:r>
            <a:endParaRPr lang="en-US" sz="3200" dirty="0"/>
          </a:p>
        </p:txBody>
      </p:sp>
      <p:sp>
        <p:nvSpPr>
          <p:cNvPr id="4" name="texto-508"/>
          <p:cNvSpPr txBox="1"/>
          <p:nvPr/>
        </p:nvSpPr>
        <p:spPr>
          <a:xfrm>
            <a:off x="548640" y="157276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LIMPIAR</a:t>
            </a:r>
            <a:endParaRPr lang="en-US" sz="1100" dirty="0"/>
          </a:p>
        </p:txBody>
      </p:sp>
      <p:sp>
        <p:nvSpPr>
          <p:cNvPr id="5" name="texto-509"/>
          <p:cNvSpPr txBox="1"/>
          <p:nvPr/>
        </p:nvSpPr>
        <p:spPr>
          <a:xfrm>
            <a:off x="548640" y="18745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Lo mismo sirve para tus datos internos: una base de datos sucia en SharePoint o un Excel heredado.</a:t>
            </a:r>
            <a:endParaRPr lang="en-US" sz="1450" dirty="0"/>
          </a:p>
        </p:txBody>
      </p:sp>
      <p:sp>
        <p:nvSpPr>
          <p:cNvPr id="6" name="texto-510"/>
          <p:cNvSpPr txBox="1"/>
          <p:nvPr/>
        </p:nvSpPr>
        <p:spPr>
          <a:xfrm>
            <a:off x="548640" y="2606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Normalizar nombres (quitar «S.L.», buscar el nombre comercial).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Separar por tipo y llevarlo a un mapa.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Encadenar scripts sencillos: sacar las URL de las fotos, descargarlas y renombrarlas por EAN.</a:t>
            </a:r>
            <a:endParaRPr lang="en-US" sz="1400" dirty="0"/>
          </a:p>
        </p:txBody>
      </p:sp>
      <p:sp>
        <p:nvSpPr>
          <p:cNvPr id="7" name="caja-511"/>
          <p:cNvSpPr/>
          <p:nvPr/>
        </p:nvSpPr>
        <p:spPr>
          <a:xfrm>
            <a:off x="548640" y="4114800"/>
            <a:ext cx="5120640" cy="2057400"/>
          </a:xfrm>
          <a:prstGeom prst="roundRect">
            <a:avLst>
              <a:gd name="adj" fmla="val 5333"/>
            </a:avLst>
          </a:prstGeom>
          <a:solidFill>
            <a:schemeClr val="accent6"/>
          </a:solidFill>
          <a:ln/>
        </p:spPr>
      </p:sp>
      <p:sp>
        <p:nvSpPr>
          <p:cNvPr id="8" name="texto-512"/>
          <p:cNvSpPr txBox="1"/>
          <p:nvPr/>
        </p:nvSpPr>
        <p:spPr>
          <a:xfrm>
            <a:off x="822960" y="4279392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La confianza se gana con catas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Al principio verificas: abres la URL de origen, compruebas que coinciden el precio, el EAN y la descripción, haces una cata y te fías. «Esas catas de revisión las puedes hacer con todo», dijo un asistente.</a:t>
            </a:r>
            <a:endParaRPr lang="en-US" sz="1400" dirty="0"/>
          </a:p>
        </p:txBody>
      </p:sp>
      <p:sp>
        <p:nvSpPr>
          <p:cNvPr id="9" name="texto-513"/>
          <p:cNvSpPr txBox="1"/>
          <p:nvPr/>
        </p:nvSpPr>
        <p:spPr>
          <a:xfrm>
            <a:off x="6172200" y="157276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VIGILAR Y PROGRAMAR</a:t>
            </a:r>
            <a:endParaRPr lang="en-US" sz="1100" dirty="0"/>
          </a:p>
        </p:txBody>
      </p:sp>
      <p:sp>
        <p:nvSpPr>
          <p:cNvPr id="10" name="caja-514"/>
          <p:cNvSpPr/>
          <p:nvPr/>
        </p:nvSpPr>
        <p:spPr>
          <a:xfrm>
            <a:off x="6172200" y="1874520"/>
            <a:ext cx="5468112" cy="3337560"/>
          </a:xfrm>
          <a:prstGeom prst="roundRect">
            <a:avLst>
              <a:gd name="adj" fmla="val 3288"/>
            </a:avLst>
          </a:prstGeom>
          <a:solidFill>
            <a:srgbClr val="FBF4EF"/>
          </a:solidFill>
          <a:ln/>
        </p:spPr>
      </p:sp>
      <p:sp>
        <p:nvSpPr>
          <p:cNvPr id="11" name="texto-515"/>
          <p:cNvSpPr txBox="1"/>
          <p:nvPr/>
        </p:nvSpPr>
        <p:spPr>
          <a:xfrm>
            <a:off x="6391656" y="209397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TAREA PROGRAMADA</a:t>
            </a:r>
            <a:endParaRPr lang="en-US" sz="1050" dirty="0"/>
          </a:p>
        </p:txBody>
      </p:sp>
      <p:sp>
        <p:nvSpPr>
          <p:cNvPr id="12" name="texto-516"/>
          <p:cNvSpPr txBox="1"/>
          <p:nvPr/>
        </p:nvSpPr>
        <p:spPr>
          <a:xfrm>
            <a:off x="6391656" y="2350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Seguimiento diario de precios</a:t>
            </a:r>
            <a:endParaRPr lang="en-US" sz="1600" dirty="0"/>
          </a:p>
        </p:txBody>
      </p:sp>
      <p:sp>
        <p:nvSpPr>
          <p:cNvPr id="13" name="caja-517"/>
          <p:cNvSpPr/>
          <p:nvPr/>
        </p:nvSpPr>
        <p:spPr>
          <a:xfrm>
            <a:off x="6336792" y="2788920"/>
            <a:ext cx="5138928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</p:spPr>
      </p:sp>
      <p:sp>
        <p:nvSpPr>
          <p:cNvPr id="14" name="texto-518"/>
          <p:cNvSpPr txBox="1"/>
          <p:nvPr/>
        </p:nvSpPr>
        <p:spPr>
          <a:xfrm>
            <a:off x="6464808" y="2880360"/>
            <a:ext cx="48828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Quiero seguir los precios de [catálogo público]. Sácame el catálogo entero con referencia, EAN, marca, nombre, precio con y sin IVA y disponibilidad, y déjalo en un Excel fechado. Que vaya guardando por el camino para poder reanudar. Cuando funcione, quiero que se ejecute solo todos los días a las 7:00 y me deje el fichero del día.</a:t>
            </a:r>
            <a:endParaRPr lang="en-US" sz="1250" dirty="0"/>
          </a:p>
        </p:txBody>
      </p:sp>
      <p:sp>
        <p:nvSpPr>
          <p:cNvPr id="15" name="texto-519"/>
          <p:cNvSpPr txBox="1"/>
          <p:nvPr/>
        </p:nvSpPr>
        <p:spPr>
          <a:xfrm>
            <a:off x="6391656" y="47731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Qué salió: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Cada fila lleva la URL de origen para comprobarla, y se cruza por EAN con tu catálogo.</a:t>
            </a:r>
            <a:endParaRPr lang="en-US" sz="1300" dirty="0"/>
          </a:p>
        </p:txBody>
      </p:sp>
      <p:sp>
        <p:nvSpPr>
          <p:cNvPr id="16" name="caja-520"/>
          <p:cNvSpPr/>
          <p:nvPr/>
        </p:nvSpPr>
        <p:spPr>
          <a:xfrm>
            <a:off x="6172200" y="5349240"/>
            <a:ext cx="546811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7" name="texto-521"/>
          <p:cNvSpPr txBox="1"/>
          <p:nvPr/>
        </p:nvSpPr>
        <p:spPr>
          <a:xfrm>
            <a:off x="6400800" y="5349240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Las tareas pueden correr en tu equipo o desde GitHub, sin tu ordenador. Rubén tiene un calendario que se actualiza tres veces al día con una rutina de Claude.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10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Construir cosas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Apps, webs, vídeo y agentes que trabajan por correo.</a:t>
            </a:r>
            <a:endParaRPr lang="en-US" sz="1700" dirty="0"/>
          </a:p>
        </p:txBody>
      </p:sp>
      <p:pic>
        <p:nvPicPr>
          <p:cNvPr id="5" name="foto-522" descr="Construir cos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10 · CONSTRUIR COSAS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Apps internas y móviles</a:t>
            </a:r>
            <a:endParaRPr lang="en-US" sz="3200" dirty="0"/>
          </a:p>
        </p:txBody>
      </p:sp>
      <p:sp>
        <p:nvSpPr>
          <p:cNvPr id="4" name="circulo-523"/>
          <p:cNvSpPr/>
          <p:nvPr/>
        </p:nvSpPr>
        <p:spPr>
          <a:xfrm>
            <a:off x="548640" y="16184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o-524"/>
          <p:cNvSpPr txBox="1"/>
          <p:nvPr/>
        </p:nvSpPr>
        <p:spPr>
          <a:xfrm>
            <a:off x="548640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-525"/>
          <p:cNvSpPr txBox="1"/>
          <p:nvPr/>
        </p:nvSpPr>
        <p:spPr>
          <a:xfrm>
            <a:off x="1115568" y="1600200"/>
            <a:ext cx="297881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chemeClr val="tx1"/>
                </a:solidFill>
              </a:rPr>
              <a:t>Del ZIP a una URL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Las primeras apps eran un ZIP que había que instalar en cada ordenador. Ahora se hacen en GitHub como una URL con dominio, login, roles y administrador.</a:t>
            </a:r>
            <a:endParaRPr lang="en-US" sz="1400" dirty="0"/>
          </a:p>
        </p:txBody>
      </p:sp>
      <p:sp>
        <p:nvSpPr>
          <p:cNvPr id="7" name="circulo-526"/>
          <p:cNvSpPr/>
          <p:nvPr/>
        </p:nvSpPr>
        <p:spPr>
          <a:xfrm>
            <a:off x="4322978" y="16184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o-527"/>
          <p:cNvSpPr txBox="1"/>
          <p:nvPr/>
        </p:nvSpPr>
        <p:spPr>
          <a:xfrm>
            <a:off x="4322978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-528"/>
          <p:cNvSpPr txBox="1"/>
          <p:nvPr/>
        </p:nvSpPr>
        <p:spPr>
          <a:xfrm>
            <a:off x="4889906" y="1600200"/>
            <a:ext cx="297881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chemeClr val="tx1"/>
                </a:solidFill>
              </a:rPr>
              <a:t>Piensa como informático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Pide 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registros (logs)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 de todo: quién entra, cuándo, cuánto lo usa. Sirven para mejorar.</a:t>
            </a:r>
            <a:endParaRPr lang="en-US" sz="1400" dirty="0"/>
          </a:p>
        </p:txBody>
      </p:sp>
      <p:sp>
        <p:nvSpPr>
          <p:cNvPr id="10" name="circulo-529"/>
          <p:cNvSpPr/>
          <p:nvPr/>
        </p:nvSpPr>
        <p:spPr>
          <a:xfrm>
            <a:off x="8097317" y="16184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o-530"/>
          <p:cNvSpPr txBox="1"/>
          <p:nvPr/>
        </p:nvSpPr>
        <p:spPr>
          <a:xfrm>
            <a:off x="8097317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-531"/>
          <p:cNvSpPr txBox="1"/>
          <p:nvPr/>
        </p:nvSpPr>
        <p:spPr>
          <a:xfrm>
            <a:off x="8664245" y="1600200"/>
            <a:ext cx="297881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chemeClr val="tx1"/>
                </a:solidFill>
              </a:rPr>
              <a:t>Mejora por versiones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Primero sin roles, luego con roles, estadísticas, administrador…</a:t>
            </a:r>
            <a:endParaRPr lang="en-US" sz="1400" dirty="0"/>
          </a:p>
        </p:txBody>
      </p:sp>
      <p:sp>
        <p:nvSpPr>
          <p:cNvPr id="13" name="caja-532"/>
          <p:cNvSpPr/>
          <p:nvPr/>
        </p:nvSpPr>
        <p:spPr>
          <a:xfrm>
            <a:off x="548640" y="3246120"/>
            <a:ext cx="543290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4" name="texto-533"/>
          <p:cNvSpPr txBox="1"/>
          <p:nvPr/>
        </p:nvSpPr>
        <p:spPr>
          <a:xfrm>
            <a:off x="768096" y="3465576"/>
            <a:ext cx="499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RR. HH.</a:t>
            </a:r>
            <a:endParaRPr lang="en-US" sz="1050" dirty="0"/>
          </a:p>
        </p:txBody>
      </p:sp>
      <p:sp>
        <p:nvSpPr>
          <p:cNvPr id="15" name="texto-534"/>
          <p:cNvSpPr txBox="1"/>
          <p:nvPr/>
        </p:nvSpPr>
        <p:spPr>
          <a:xfrm>
            <a:off x="768096" y="3721608"/>
            <a:ext cx="4993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Del folio a una app con roles</a:t>
            </a:r>
            <a:endParaRPr lang="en-US" sz="1700" dirty="0"/>
          </a:p>
        </p:txBody>
      </p:sp>
      <p:sp>
        <p:nvSpPr>
          <p:cNvPr id="16" name="texto-535"/>
          <p:cNvSpPr txBox="1"/>
          <p:nvPr/>
        </p:nvSpPr>
        <p:spPr>
          <a:xfrm>
            <a:off x="768096" y="4142232"/>
            <a:ext cx="49939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Quien entrevista ve el CV y los datos; quien da de alta tiene su formulario; un botón prepara el correo para la gestoría en el formato exacto. Con datos personales, cumple la normativa.</a:t>
            </a:r>
            <a:endParaRPr lang="en-US" sz="1550" dirty="0"/>
          </a:p>
        </p:txBody>
      </p:sp>
      <p:sp>
        <p:nvSpPr>
          <p:cNvPr id="17" name="caja-536"/>
          <p:cNvSpPr/>
          <p:nvPr/>
        </p:nvSpPr>
        <p:spPr>
          <a:xfrm>
            <a:off x="6210148" y="3246120"/>
            <a:ext cx="543290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8" name="texto-537"/>
          <p:cNvSpPr txBox="1"/>
          <p:nvPr/>
        </p:nvSpPr>
        <p:spPr>
          <a:xfrm>
            <a:off x="6429604" y="3465576"/>
            <a:ext cx="499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APK CON FLUTTER</a:t>
            </a:r>
            <a:endParaRPr lang="en-US" sz="1050" dirty="0"/>
          </a:p>
        </p:txBody>
      </p:sp>
      <p:sp>
        <p:nvSpPr>
          <p:cNvPr id="19" name="texto-538"/>
          <p:cNvSpPr txBox="1"/>
          <p:nvPr/>
        </p:nvSpPr>
        <p:spPr>
          <a:xfrm>
            <a:off x="6429604" y="3721608"/>
            <a:ext cx="4993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Una app de móvil en 2 tardes</a:t>
            </a:r>
            <a:endParaRPr lang="en-US" sz="1700" dirty="0"/>
          </a:p>
        </p:txBody>
      </p:sp>
      <p:sp>
        <p:nvSpPr>
          <p:cNvPr id="20" name="texto-539"/>
          <p:cNvSpPr txBox="1"/>
          <p:nvPr/>
        </p:nvSpPr>
        <p:spPr>
          <a:xfrm>
            <a:off x="6429604" y="4142232"/>
            <a:ext cx="49939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Pides un APK, Claude descarga Flutter y compila en tiempo real; te la descargas, la pruebas y cambias colores o botones en un rato.</a:t>
            </a:r>
            <a:endParaRPr lang="en-US" sz="1550" dirty="0"/>
          </a:p>
        </p:txBody>
      </p:sp>
      <p:sp>
        <p:nvSpPr>
          <p:cNvPr id="21" name="texto-540"/>
          <p:cNvSpPr txBox="1"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«La intención es sacar más trabajo y no despedir a nadie.»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10 · CONSTRUIR COSAS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¿Lo hago yo o va a IT?</a:t>
            </a:r>
            <a:endParaRPr lang="en-US" sz="3200" dirty="0"/>
          </a:p>
        </p:txBody>
      </p:sp>
      <p:sp>
        <p:nvSpPr>
          <p:cNvPr id="4" name="texto-541"/>
          <p:cNvSpPr txBox="1"/>
          <p:nvPr/>
        </p:nvSpPr>
        <p:spPr>
          <a:xfrm>
            <a:off x="548640" y="14813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Cuatro preguntas para saber si es una solución satelital que te haces tú o algo que tiene que pasar por IT.</a:t>
            </a:r>
            <a:endParaRPr lang="en-US" sz="1500" dirty="0"/>
          </a:p>
        </p:txBody>
      </p:sp>
      <p:sp>
        <p:nvSpPr>
          <p:cNvPr id="5" name="caja-542"/>
          <p:cNvSpPr/>
          <p:nvPr/>
        </p:nvSpPr>
        <p:spPr>
          <a:xfrm>
            <a:off x="548640" y="2057400"/>
            <a:ext cx="11094415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</p:spPr>
      </p:sp>
      <p:sp>
        <p:nvSpPr>
          <p:cNvPr id="6" name="semaforo-543"/>
          <p:cNvSpPr/>
          <p:nvPr/>
        </p:nvSpPr>
        <p:spPr>
          <a:xfrm>
            <a:off x="868680" y="2404872"/>
            <a:ext cx="384048" cy="384048"/>
          </a:xfrm>
          <a:prstGeom prst="ellipse">
            <a:avLst/>
          </a:prstGeom>
          <a:solidFill>
            <a:srgbClr val="2F8F4E"/>
          </a:solidFill>
          <a:ln/>
        </p:spPr>
      </p:sp>
      <p:sp>
        <p:nvSpPr>
          <p:cNvPr id="7" name="texto-544"/>
          <p:cNvSpPr txBox="1"/>
          <p:nvPr/>
        </p:nvSpPr>
        <p:spPr>
          <a:xfrm>
            <a:off x="1508760" y="2057400"/>
            <a:ext cx="5669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Solo para ti, sin datos personales y sin tocar sistemas</a:t>
            </a:r>
            <a:endParaRPr lang="en-US" sz="1700" dirty="0"/>
          </a:p>
        </p:txBody>
      </p:sp>
      <p:sp>
        <p:nvSpPr>
          <p:cNvPr id="8" name="texto-545"/>
          <p:cNvSpPr txBox="1"/>
          <p:nvPr/>
        </p:nvSpPr>
        <p:spPr>
          <a:xfrm>
            <a:off x="7269480" y="2057400"/>
            <a:ext cx="4160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Hazlo tú: es satelital.</a:t>
            </a:r>
            <a:endParaRPr lang="en-US" sz="1500" dirty="0"/>
          </a:p>
        </p:txBody>
      </p:sp>
      <p:sp>
        <p:nvSpPr>
          <p:cNvPr id="9" name="caja-546"/>
          <p:cNvSpPr/>
          <p:nvPr/>
        </p:nvSpPr>
        <p:spPr>
          <a:xfrm>
            <a:off x="548640" y="3300984"/>
            <a:ext cx="11094415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</p:spPr>
      </p:sp>
      <p:sp>
        <p:nvSpPr>
          <p:cNvPr id="10" name="semaforo-547"/>
          <p:cNvSpPr/>
          <p:nvPr/>
        </p:nvSpPr>
        <p:spPr>
          <a:xfrm>
            <a:off x="868680" y="3648456"/>
            <a:ext cx="384048" cy="384048"/>
          </a:xfrm>
          <a:prstGeom prst="ellipse">
            <a:avLst/>
          </a:prstGeom>
          <a:solidFill>
            <a:srgbClr val="E89B00"/>
          </a:solidFill>
          <a:ln/>
        </p:spPr>
      </p:sp>
      <p:sp>
        <p:nvSpPr>
          <p:cNvPr id="11" name="texto-548"/>
          <p:cNvSpPr txBox="1"/>
          <p:nvPr/>
        </p:nvSpPr>
        <p:spPr>
          <a:xfrm>
            <a:off x="1508760" y="3300984"/>
            <a:ext cx="5669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 conecta a sistemas de la empresa o lo usará mucha gente</a:t>
            </a:r>
            <a:endParaRPr lang="en-US" sz="1700" dirty="0"/>
          </a:p>
        </p:txBody>
      </p:sp>
      <p:sp>
        <p:nvSpPr>
          <p:cNvPr id="12" name="texto-549"/>
          <p:cNvSpPr txBox="1"/>
          <p:nvPr/>
        </p:nvSpPr>
        <p:spPr>
          <a:xfrm>
            <a:off x="7269480" y="3300984"/>
            <a:ext cx="4160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Haz un prototipo y llévaselo a IT para que lo asegure.</a:t>
            </a:r>
            <a:endParaRPr lang="en-US" sz="1500" dirty="0"/>
          </a:p>
        </p:txBody>
      </p:sp>
      <p:sp>
        <p:nvSpPr>
          <p:cNvPr id="13" name="caja-550"/>
          <p:cNvSpPr/>
          <p:nvPr/>
        </p:nvSpPr>
        <p:spPr>
          <a:xfrm>
            <a:off x="548640" y="4544568"/>
            <a:ext cx="11094415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/>
        </p:spPr>
      </p:sp>
      <p:sp>
        <p:nvSpPr>
          <p:cNvPr id="14" name="semaforo-551"/>
          <p:cNvSpPr/>
          <p:nvPr/>
        </p:nvSpPr>
        <p:spPr>
          <a:xfrm>
            <a:off x="868680" y="4892040"/>
            <a:ext cx="384048" cy="384048"/>
          </a:xfrm>
          <a:prstGeom prst="ellipse">
            <a:avLst/>
          </a:prstGeom>
          <a:solidFill>
            <a:srgbClr val="CE0E2D"/>
          </a:solidFill>
          <a:ln/>
        </p:spPr>
      </p:sp>
      <p:sp>
        <p:nvSpPr>
          <p:cNvPr id="15" name="texto-552"/>
          <p:cNvSpPr txBox="1"/>
          <p:nvPr/>
        </p:nvSpPr>
        <p:spPr>
          <a:xfrm>
            <a:off x="1508760" y="4544568"/>
            <a:ext cx="5669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Usa datos personales o confidenciales</a:t>
            </a:r>
            <a:endParaRPr lang="en-US" sz="1700" dirty="0"/>
          </a:p>
        </p:txBody>
      </p:sp>
      <p:sp>
        <p:nvSpPr>
          <p:cNvPr id="16" name="texto-553"/>
          <p:cNvSpPr txBox="1"/>
          <p:nvPr/>
        </p:nvSpPr>
        <p:spPr>
          <a:xfrm>
            <a:off x="7269480" y="4544568"/>
            <a:ext cx="4160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Antes, habla con IT y con protección de datos.</a:t>
            </a:r>
            <a:endParaRPr lang="en-US" sz="1500" dirty="0"/>
          </a:p>
        </p:txBody>
      </p:sp>
      <p:sp>
        <p:nvSpPr>
          <p:cNvPr id="17" name="texto-554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En la web, el árbol de decisión hace estas preguntas una a una.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10 · CONSTRUIR COSAS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Webs y tienda</a:t>
            </a:r>
            <a:endParaRPr lang="en-US" sz="3200" dirty="0"/>
          </a:p>
        </p:txBody>
      </p:sp>
      <p:sp>
        <p:nvSpPr>
          <p:cNvPr id="4" name="caja-555"/>
          <p:cNvSpPr/>
          <p:nvPr/>
        </p:nvSpPr>
        <p:spPr>
          <a:xfrm>
            <a:off x="548640" y="1600200"/>
            <a:ext cx="354573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5" name="texto-556"/>
          <p:cNvSpPr txBox="1"/>
          <p:nvPr/>
        </p:nvSpPr>
        <p:spPr>
          <a:xfrm>
            <a:off x="768096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WEB</a:t>
            </a:r>
            <a:endParaRPr lang="en-US" sz="1050" dirty="0"/>
          </a:p>
        </p:txBody>
      </p:sp>
      <p:sp>
        <p:nvSpPr>
          <p:cNvPr id="6" name="texto-557"/>
          <p:cNvSpPr txBox="1"/>
          <p:nvPr/>
        </p:nvSpPr>
        <p:spPr>
          <a:xfrm>
            <a:off x="768096" y="2075688"/>
            <a:ext cx="3106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 buscador en una tarde</a:t>
            </a:r>
            <a:endParaRPr lang="en-US" sz="1700" dirty="0"/>
          </a:p>
        </p:txBody>
      </p:sp>
      <p:sp>
        <p:nvSpPr>
          <p:cNvPr id="7" name="texto-558"/>
          <p:cNvSpPr txBox="1"/>
          <p:nvPr/>
        </p:nvSpPr>
        <p:spPr>
          <a:xfrm>
            <a:off x="768096" y="2496312"/>
            <a:ext cx="310682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«Hazme un buscador de neumáticos» con los datos sacados antes: un catálogo en una URL que filtra por medida «sin que se lo pidas», con ficha, foto y precio.</a:t>
            </a:r>
            <a:endParaRPr lang="en-US" sz="1450" dirty="0"/>
          </a:p>
        </p:txBody>
      </p:sp>
      <p:sp>
        <p:nvSpPr>
          <p:cNvPr id="8" name="caja-559"/>
          <p:cNvSpPr/>
          <p:nvPr/>
        </p:nvSpPr>
        <p:spPr>
          <a:xfrm>
            <a:off x="4322978" y="1600200"/>
            <a:ext cx="354573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texto-560"/>
          <p:cNvSpPr txBox="1"/>
          <p:nvPr/>
        </p:nvSpPr>
        <p:spPr>
          <a:xfrm>
            <a:off x="4542434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E-COMMERCE</a:t>
            </a:r>
            <a:endParaRPr lang="en-US" sz="1050" dirty="0"/>
          </a:p>
        </p:txBody>
      </p:sp>
      <p:sp>
        <p:nvSpPr>
          <p:cNvPr id="10" name="texto-561"/>
          <p:cNvSpPr txBox="1"/>
          <p:nvPr/>
        </p:nvSpPr>
        <p:spPr>
          <a:xfrm>
            <a:off x="4542434" y="2075688"/>
            <a:ext cx="3106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Tu tienda online</a:t>
            </a:r>
            <a:endParaRPr lang="en-US" sz="1700" dirty="0"/>
          </a:p>
        </p:txBody>
      </p:sp>
      <p:sp>
        <p:nvSpPr>
          <p:cNvPr id="11" name="texto-562"/>
          <p:cNvSpPr txBox="1"/>
          <p:nvPr/>
        </p:nvSpPr>
        <p:spPr>
          <a:xfrm>
            <a:off x="4542434" y="2496312"/>
            <a:ext cx="310682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Dominio, servidor, estudio de la competencia, la web y las campañas. Para cobrar, Claude te propone Stripe y Cowork configura la pasarela.</a:t>
            </a:r>
            <a:endParaRPr lang="en-US" sz="1450" dirty="0"/>
          </a:p>
        </p:txBody>
      </p:sp>
      <p:sp>
        <p:nvSpPr>
          <p:cNvPr id="12" name="caja-563"/>
          <p:cNvSpPr/>
          <p:nvPr/>
        </p:nvSpPr>
        <p:spPr>
          <a:xfrm>
            <a:off x="8097317" y="1600200"/>
            <a:ext cx="354573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3" name="texto-564"/>
          <p:cNvSpPr txBox="1"/>
          <p:nvPr/>
        </p:nvSpPr>
        <p:spPr>
          <a:xfrm>
            <a:off x="8316773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TAG MANAGER</a:t>
            </a:r>
            <a:endParaRPr lang="en-US" sz="1050" dirty="0"/>
          </a:p>
        </p:txBody>
      </p:sp>
      <p:sp>
        <p:nvSpPr>
          <p:cNvPr id="14" name="texto-565"/>
          <p:cNvSpPr txBox="1"/>
          <p:nvPr/>
        </p:nvSpPr>
        <p:spPr>
          <a:xfrm>
            <a:off x="8316773" y="2075688"/>
            <a:ext cx="3106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WhatsApp en la web, sin IT</a:t>
            </a:r>
            <a:endParaRPr lang="en-US" sz="1700" dirty="0"/>
          </a:p>
        </p:txBody>
      </p:sp>
      <p:sp>
        <p:nvSpPr>
          <p:cNvPr id="15" name="texto-566"/>
          <p:cNvSpPr txBox="1"/>
          <p:nvPr/>
        </p:nvSpPr>
        <p:spPr>
          <a:xfrm>
            <a:off x="8316773" y="2496312"/>
            <a:ext cx="310682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«Hazme un plugin de WhatsApp para la web» y, si la web tiene Tag Manager, Cowork lo mete sin pedir ayuda a IT.</a:t>
            </a:r>
            <a:endParaRPr lang="en-US" sz="1450" dirty="0"/>
          </a:p>
        </p:txBody>
      </p:sp>
      <p:sp>
        <p:nvSpPr>
          <p:cNvPr id="16" name="caja-567"/>
          <p:cNvSpPr/>
          <p:nvPr/>
        </p:nvSpPr>
        <p:spPr>
          <a:xfrm>
            <a:off x="548640" y="3931920"/>
            <a:ext cx="3547262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7" name="texto-568"/>
          <p:cNvSpPr txBox="1"/>
          <p:nvPr/>
        </p:nvSpPr>
        <p:spPr>
          <a:xfrm>
            <a:off x="768096" y="4151376"/>
            <a:ext cx="3108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TABLERO</a:t>
            </a:r>
            <a:endParaRPr lang="en-US" sz="1050" dirty="0"/>
          </a:p>
        </p:txBody>
      </p:sp>
      <p:sp>
        <p:nvSpPr>
          <p:cNvPr id="18" name="texto-569"/>
          <p:cNvSpPr txBox="1"/>
          <p:nvPr/>
        </p:nvSpPr>
        <p:spPr>
          <a:xfrm>
            <a:off x="768096" y="4407408"/>
            <a:ext cx="31083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Licitaciones públicas</a:t>
            </a:r>
            <a:endParaRPr lang="en-US" sz="1700" dirty="0"/>
          </a:p>
        </p:txBody>
      </p:sp>
      <p:sp>
        <p:nvSpPr>
          <p:cNvPr id="19" name="texto-570"/>
          <p:cNvSpPr txBox="1"/>
          <p:nvPr/>
        </p:nvSpPr>
        <p:spPr>
          <a:xfrm>
            <a:off x="768096" y="4828032"/>
            <a:ext cx="310835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Un tablero tipo Trello que recoge licitaciones del BOE y de ayuntamientos, con fechas, importes y pliegos.</a:t>
            </a:r>
            <a:endParaRPr lang="en-US" sz="1450" dirty="0"/>
          </a:p>
        </p:txBody>
      </p:sp>
      <p:sp>
        <p:nvSpPr>
          <p:cNvPr id="20" name="caja-571"/>
          <p:cNvSpPr/>
          <p:nvPr/>
        </p:nvSpPr>
        <p:spPr>
          <a:xfrm>
            <a:off x="4324502" y="3931920"/>
            <a:ext cx="3547262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21" name="texto-572"/>
          <p:cNvSpPr txBox="1"/>
          <p:nvPr/>
        </p:nvSpPr>
        <p:spPr>
          <a:xfrm>
            <a:off x="4543958" y="4151376"/>
            <a:ext cx="3108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MARKETING</a:t>
            </a:r>
            <a:endParaRPr lang="en-US" sz="1050" dirty="0"/>
          </a:p>
        </p:txBody>
      </p:sp>
      <p:sp>
        <p:nvSpPr>
          <p:cNvPr id="22" name="texto-573"/>
          <p:cNvSpPr txBox="1"/>
          <p:nvPr/>
        </p:nvSpPr>
        <p:spPr>
          <a:xfrm>
            <a:off x="4543958" y="4407408"/>
            <a:ext cx="31083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Campañas de Google Ads</a:t>
            </a:r>
            <a:endParaRPr lang="en-US" sz="1700" dirty="0"/>
          </a:p>
        </p:txBody>
      </p:sp>
      <p:sp>
        <p:nvSpPr>
          <p:cNvPr id="23" name="texto-574"/>
          <p:cNvSpPr txBox="1"/>
          <p:nvPr/>
        </p:nvSpPr>
        <p:spPr>
          <a:xfrm>
            <a:off x="4543958" y="4828032"/>
            <a:ext cx="310835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Con Semrush abierto: «dime las keywords con sentido para mi negocio y configúrame campañas con un CPC máximo de 0,50». «Ya no las hacemos a mano».</a:t>
            </a:r>
            <a:endParaRPr lang="en-US" sz="1450" dirty="0"/>
          </a:p>
        </p:txBody>
      </p:sp>
      <p:sp>
        <p:nvSpPr>
          <p:cNvPr id="24" name="caja-575"/>
          <p:cNvSpPr/>
          <p:nvPr/>
        </p:nvSpPr>
        <p:spPr>
          <a:xfrm>
            <a:off x="8100365" y="3931920"/>
            <a:ext cx="3542690" cy="1874520"/>
          </a:xfrm>
          <a:prstGeom prst="roundRect">
            <a:avLst>
              <a:gd name="adj" fmla="val 5854"/>
            </a:avLst>
          </a:prstGeom>
          <a:solidFill>
            <a:schemeClr val="accent1"/>
          </a:solidFill>
          <a:ln/>
        </p:spPr>
      </p:sp>
      <p:sp>
        <p:nvSpPr>
          <p:cNvPr id="25" name="texto-576"/>
          <p:cNvSpPr txBox="1"/>
          <p:nvPr/>
        </p:nvSpPr>
        <p:spPr>
          <a:xfrm>
            <a:off x="8356397" y="4160520"/>
            <a:ext cx="30580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«Creedos que sois capaces de hacer webs profesionales.»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6"/>
                </a:solidFill>
              </a:rPr>
              <a:t>Diego Renedo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10 · CONSTRUIR COSAS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Vídeo y agentes</a:t>
            </a:r>
            <a:endParaRPr lang="en-US" sz="3200" dirty="0"/>
          </a:p>
        </p:txBody>
      </p:sp>
      <p:sp>
        <p:nvSpPr>
          <p:cNvPr id="4" name="caja-577"/>
          <p:cNvSpPr/>
          <p:nvPr/>
        </p:nvSpPr>
        <p:spPr>
          <a:xfrm>
            <a:off x="548640" y="1600200"/>
            <a:ext cx="5432908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/>
        </p:spPr>
      </p:sp>
      <p:sp>
        <p:nvSpPr>
          <p:cNvPr id="5" name="texto-578"/>
          <p:cNvSpPr txBox="1"/>
          <p:nvPr/>
        </p:nvSpPr>
        <p:spPr>
          <a:xfrm>
            <a:off x="768096" y="1819656"/>
            <a:ext cx="4993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Claude conecta, no genera vídeo</a:t>
            </a:r>
            <a:endParaRPr lang="en-US" sz="1900" dirty="0"/>
          </a:p>
        </p:txBody>
      </p:sp>
      <p:sp>
        <p:nvSpPr>
          <p:cNvPr id="6" name="texto-579"/>
          <p:cNvSpPr txBox="1"/>
          <p:nvPr/>
        </p:nvSpPr>
        <p:spPr>
          <a:xfrm>
            <a:off x="768096" y="2267712"/>
            <a:ext cx="4993996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Se conecta a herramientas especializadas (Higgsfield para imagen, vídeo y voz) y edita con HyperFrames o Remotion. Son de pago, «pero tampoco es tanto dinero».</a:t>
            </a:r>
            <a:endParaRPr lang="en-US" sz="1600" dirty="0"/>
          </a:p>
        </p:txBody>
      </p:sp>
      <p:sp>
        <p:nvSpPr>
          <p:cNvPr id="7" name="caja-580"/>
          <p:cNvSpPr/>
          <p:nvPr/>
        </p:nvSpPr>
        <p:spPr>
          <a:xfrm>
            <a:off x="6210148" y="1600200"/>
            <a:ext cx="5432908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/>
        </p:spPr>
      </p:sp>
      <p:sp>
        <p:nvSpPr>
          <p:cNvPr id="8" name="texto-581"/>
          <p:cNvSpPr txBox="1"/>
          <p:nvPr/>
        </p:nvSpPr>
        <p:spPr>
          <a:xfrm>
            <a:off x="6429604" y="1819656"/>
            <a:ext cx="4993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Un canal de YouTube automatizado</a:t>
            </a:r>
            <a:endParaRPr lang="en-US" sz="1900" dirty="0"/>
          </a:p>
        </p:txBody>
      </p:sp>
      <p:sp>
        <p:nvSpPr>
          <p:cNvPr id="9" name="texto-582"/>
          <p:cNvSpPr txBox="1"/>
          <p:nvPr/>
        </p:nvSpPr>
        <p:spPr>
          <a:xfrm>
            <a:off x="6429604" y="2267712"/>
            <a:ext cx="4993996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Rubén manda un audio desde el móvil; Claude investiga en Analytics, Search Console y YouTube, monta el vídeo con su voz y su avatar, lo sube y saca los shorts para las redes.</a:t>
            </a:r>
            <a:endParaRPr lang="en-US" sz="1600" dirty="0"/>
          </a:p>
        </p:txBody>
      </p:sp>
      <p:sp>
        <p:nvSpPr>
          <p:cNvPr id="10" name="caja-583"/>
          <p:cNvSpPr/>
          <p:nvPr/>
        </p:nvSpPr>
        <p:spPr>
          <a:xfrm>
            <a:off x="548640" y="3634740"/>
            <a:ext cx="5432908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/>
        </p:spPr>
      </p:sp>
      <p:sp>
        <p:nvSpPr>
          <p:cNvPr id="11" name="texto-584"/>
          <p:cNvSpPr txBox="1"/>
          <p:nvPr/>
        </p:nvSpPr>
        <p:spPr>
          <a:xfrm>
            <a:off x="768096" y="3854196"/>
            <a:ext cx="4993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Agentes que trabajan por correo</a:t>
            </a:r>
            <a:endParaRPr lang="en-US" sz="1900" dirty="0"/>
          </a:p>
        </p:txBody>
      </p:sp>
      <p:sp>
        <p:nvSpPr>
          <p:cNvPr id="12" name="texto-585"/>
          <p:cNvSpPr txBox="1"/>
          <p:nvPr/>
        </p:nvSpPr>
        <p:spPr>
          <a:xfrm>
            <a:off x="768096" y="4302252"/>
            <a:ext cx="4993996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Un agente con su propio buzón al que cualquier persona escribe y que responde con la tarea hecha en 20 o 30 minutos. Aprende con skills hechas a partir de grabaciones del trabajo de cada área.</a:t>
            </a:r>
            <a:endParaRPr lang="en-US" sz="1600" dirty="0"/>
          </a:p>
        </p:txBody>
      </p:sp>
      <p:sp>
        <p:nvSpPr>
          <p:cNvPr id="13" name="caja-586"/>
          <p:cNvSpPr/>
          <p:nvPr/>
        </p:nvSpPr>
        <p:spPr>
          <a:xfrm>
            <a:off x="6210148" y="3634740"/>
            <a:ext cx="5432908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/>
        </p:spPr>
      </p:sp>
      <p:sp>
        <p:nvSpPr>
          <p:cNvPr id="14" name="texto-587"/>
          <p:cNvSpPr txBox="1"/>
          <p:nvPr/>
        </p:nvSpPr>
        <p:spPr>
          <a:xfrm>
            <a:off x="6429604" y="3854196"/>
            <a:ext cx="4993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Reuniones grabadas</a:t>
            </a:r>
            <a:endParaRPr lang="en-US" sz="1900" dirty="0"/>
          </a:p>
        </p:txBody>
      </p:sp>
      <p:sp>
        <p:nvSpPr>
          <p:cNvPr id="15" name="texto-588"/>
          <p:cNvSpPr txBox="1"/>
          <p:nvPr/>
        </p:nvSpPr>
        <p:spPr>
          <a:xfrm>
            <a:off x="6429604" y="4302252"/>
            <a:ext cx="4993996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Con Plaud y su MCP, Claude accede a la transcripción y al resumen, y te recuerda los compromisos. Diego lo usa en el coche: «cuando llegas tienes el PowerPoint hecho».</a:t>
            </a:r>
            <a:endParaRPr lang="en-US" sz="1600" dirty="0"/>
          </a:p>
        </p:txBody>
      </p:sp>
      <p:sp>
        <p:nvSpPr>
          <p:cNvPr id="16" name="caja-58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FF3DA"/>
          </a:solidFill>
          <a:ln/>
        </p:spPr>
      </p:sp>
      <p:sp>
        <p:nvSpPr>
          <p:cNvPr id="17" name="texto-590"/>
          <p:cNvSpPr txBox="1"/>
          <p:nvPr/>
        </p:nvSpPr>
        <p:spPr>
          <a:xfrm>
            <a:off x="777240" y="562356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5A00"/>
                </a:solidFill>
              </a:rPr>
              <a:t>OJO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 vídeos e imágenes de terceros, asegúrate de tener derecho a usarlos: no hay un número de segundos que lo haga seguro. Y si grabas una reunión, avisa a quienes participan.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727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11</a:t>
            </a:r>
            <a:endParaRPr lang="en-US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Seguridad, costes y lo que viene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Checklist, riesgos, hacia dónde va y tus deberes.</a:t>
            </a:r>
            <a:endParaRPr lang="en-US" sz="1700" dirty="0"/>
          </a:p>
        </p:txBody>
      </p:sp>
      <p:pic>
        <p:nvPicPr>
          <p:cNvPr id="5" name="foto-591" descr="Seguridad, costes y lo que vie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82496"/>
            <a:ext cx="6199632" cy="350215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11 · SEGURIDAD, COSTES Y LO QUE VIENE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Checklist antes de conectar nada</a:t>
            </a:r>
            <a:endParaRPr lang="en-US" sz="3200" dirty="0"/>
          </a:p>
        </p:txBody>
      </p:sp>
      <p:sp>
        <p:nvSpPr>
          <p:cNvPr id="4" name="caja-592"/>
          <p:cNvSpPr/>
          <p:nvPr/>
        </p:nvSpPr>
        <p:spPr>
          <a:xfrm>
            <a:off x="548640" y="1572768"/>
            <a:ext cx="354573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5" name="texto-593"/>
          <p:cNvSpPr txBox="1"/>
          <p:nvPr/>
        </p:nvSpPr>
        <p:spPr>
          <a:xfrm>
            <a:off x="749808" y="1719072"/>
            <a:ext cx="31434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Antes de conectar</a:t>
            </a:r>
            <a:endParaRPr lang="en-US" sz="1500" dirty="0"/>
          </a:p>
        </p:txBody>
      </p:sp>
      <p:sp>
        <p:nvSpPr>
          <p:cNvPr id="6" name="texto-594"/>
          <p:cNvSpPr txBox="1"/>
          <p:nvPr/>
        </p:nvSpPr>
        <p:spPr>
          <a:xfrm>
            <a:off x="749808" y="2103120"/>
            <a:ext cx="31434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Uso mi cuenta de la empresa: lo que ve Claude es lo que ve mi usuario.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En un equipo personal no meto documentos de la compañía.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Sé qué información es confidencial y dónde está.</a:t>
            </a:r>
            <a:endParaRPr lang="en-US" sz="1250" dirty="0"/>
          </a:p>
        </p:txBody>
      </p:sp>
      <p:sp>
        <p:nvSpPr>
          <p:cNvPr id="7" name="caja-595"/>
          <p:cNvSpPr/>
          <p:nvPr/>
        </p:nvSpPr>
        <p:spPr>
          <a:xfrm>
            <a:off x="4322978" y="1572768"/>
            <a:ext cx="354573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o-596"/>
          <p:cNvSpPr txBox="1"/>
          <p:nvPr/>
        </p:nvSpPr>
        <p:spPr>
          <a:xfrm>
            <a:off x="4524146" y="1719072"/>
            <a:ext cx="31434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Antes de dar permisos</a:t>
            </a:r>
            <a:endParaRPr lang="en-US" sz="1500" dirty="0"/>
          </a:p>
        </p:txBody>
      </p:sp>
      <p:sp>
        <p:nvSpPr>
          <p:cNvPr id="9" name="texto-597"/>
          <p:cNvSpPr txBox="1"/>
          <p:nvPr/>
        </p:nvSpPr>
        <p:spPr>
          <a:xfrm>
            <a:off x="4524146" y="2103120"/>
            <a:ext cx="31434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Las respuestas de correo se quedan en borrador.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No le doy contraseñas ni datos de tarjeta.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El modo sin permisos, solo en una carpeta de pruebas.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Uso Git para poder volver atrás.</a:t>
            </a:r>
            <a:endParaRPr lang="en-US" sz="1250" dirty="0"/>
          </a:p>
        </p:txBody>
      </p:sp>
      <p:sp>
        <p:nvSpPr>
          <p:cNvPr id="10" name="caja-598"/>
          <p:cNvSpPr/>
          <p:nvPr/>
        </p:nvSpPr>
        <p:spPr>
          <a:xfrm>
            <a:off x="8097317" y="1572768"/>
            <a:ext cx="354573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1" name="texto-599"/>
          <p:cNvSpPr txBox="1"/>
          <p:nvPr/>
        </p:nvSpPr>
        <p:spPr>
          <a:xfrm>
            <a:off x="8298485" y="1719072"/>
            <a:ext cx="31434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 datos de personas</a:t>
            </a:r>
            <a:endParaRPr lang="en-US" sz="1500" dirty="0"/>
          </a:p>
        </p:txBody>
      </p:sp>
      <p:sp>
        <p:nvSpPr>
          <p:cNvPr id="12" name="texto-600"/>
          <p:cNvSpPr txBox="1"/>
          <p:nvPr/>
        </p:nvSpPr>
        <p:spPr>
          <a:xfrm>
            <a:off x="8298485" y="2103120"/>
            <a:ext cx="31434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Si uso datos personales, tengo base legal y lo he consultado.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Para envíos comerciales, cumplo la normativa y las condiciones del canal.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Aviso cuando grabo una reunión.</a:t>
            </a:r>
            <a:endParaRPr lang="en-US" sz="1250" dirty="0"/>
          </a:p>
        </p:txBody>
      </p:sp>
      <p:sp>
        <p:nvSpPr>
          <p:cNvPr id="13" name="caja-601"/>
          <p:cNvSpPr/>
          <p:nvPr/>
        </p:nvSpPr>
        <p:spPr>
          <a:xfrm>
            <a:off x="548640" y="4133088"/>
            <a:ext cx="354726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texto-602"/>
          <p:cNvSpPr txBox="1"/>
          <p:nvPr/>
        </p:nvSpPr>
        <p:spPr>
          <a:xfrm>
            <a:off x="749808" y="4279392"/>
            <a:ext cx="31449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Antes de pasar a producción</a:t>
            </a:r>
            <a:endParaRPr lang="en-US" sz="1500" dirty="0"/>
          </a:p>
        </p:txBody>
      </p:sp>
      <p:sp>
        <p:nvSpPr>
          <p:cNvPr id="15" name="texto-603"/>
          <p:cNvSpPr txBox="1"/>
          <p:nvPr/>
        </p:nvSpPr>
        <p:spPr>
          <a:xfrm>
            <a:off x="749808" y="4663440"/>
            <a:ext cx="314492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Lo reviso con IT y lo aseguran contra su servicio o API.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Tiene login, roles y registros (logs).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He hecho catas del resultado.</a:t>
            </a:r>
            <a:endParaRPr lang="en-US" sz="1250" dirty="0"/>
          </a:p>
        </p:txBody>
      </p:sp>
      <p:sp>
        <p:nvSpPr>
          <p:cNvPr id="16" name="caja-604"/>
          <p:cNvSpPr/>
          <p:nvPr/>
        </p:nvSpPr>
        <p:spPr>
          <a:xfrm>
            <a:off x="4324502" y="4133088"/>
            <a:ext cx="354726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7" name="texto-605"/>
          <p:cNvSpPr txBox="1"/>
          <p:nvPr/>
        </p:nvSpPr>
        <p:spPr>
          <a:xfrm>
            <a:off x="4525670" y="4279392"/>
            <a:ext cx="31449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Contenidos y servicios de terceros</a:t>
            </a:r>
            <a:endParaRPr lang="en-US" sz="1500" dirty="0"/>
          </a:p>
        </p:txBody>
      </p:sp>
      <p:sp>
        <p:nvSpPr>
          <p:cNvPr id="18" name="texto-606"/>
          <p:cNvSpPr txBox="1"/>
          <p:nvPr/>
        </p:nvSpPr>
        <p:spPr>
          <a:xfrm>
            <a:off x="4525670" y="4663440"/>
            <a:ext cx="314492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Respeto las condiciones de uso de las webs.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Tengo derecho a usar las imágenes y los vídeos.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☐  Una licencia por persona.</a:t>
            </a:r>
            <a:endParaRPr lang="en-US" sz="1250" dirty="0"/>
          </a:p>
        </p:txBody>
      </p:sp>
      <p:sp>
        <p:nvSpPr>
          <p:cNvPr id="19" name="caja-607"/>
          <p:cNvSpPr/>
          <p:nvPr/>
        </p:nvSpPr>
        <p:spPr>
          <a:xfrm>
            <a:off x="8100365" y="4133088"/>
            <a:ext cx="3542690" cy="20574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sp>
        <p:nvSpPr>
          <p:cNvPr id="20" name="texto-608"/>
          <p:cNvSpPr txBox="1"/>
          <p:nvPr/>
        </p:nvSpPr>
        <p:spPr>
          <a:xfrm>
            <a:off x="8356397" y="4343400"/>
            <a:ext cx="30580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En la web se puede ir marcando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chemeClr val="bg1"/>
                </a:solidFill>
              </a:rPr>
              <a:t>La checklist se guarda en tu navegador para repasarla antes de cada proyecto.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11 · SEGURIDAD, COSTES Y LO QUE VIENE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 que hay que vigilar</a:t>
            </a:r>
            <a:endParaRPr lang="en-US" sz="3200" dirty="0"/>
          </a:p>
        </p:txBody>
      </p:sp>
      <p:sp>
        <p:nvSpPr>
          <p:cNvPr id="4" name="caja-609"/>
          <p:cNvSpPr/>
          <p:nvPr/>
        </p:nvSpPr>
        <p:spPr>
          <a:xfrm>
            <a:off x="548640" y="1600200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/>
        </p:spPr>
      </p:sp>
      <p:sp>
        <p:nvSpPr>
          <p:cNvPr id="5" name="texto-610"/>
          <p:cNvSpPr txBox="1"/>
          <p:nvPr/>
        </p:nvSpPr>
        <p:spPr>
          <a:xfrm>
            <a:off x="768096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FIABILIDAD</a:t>
            </a:r>
            <a:endParaRPr lang="en-US" sz="1050" dirty="0"/>
          </a:p>
        </p:txBody>
      </p:sp>
      <p:sp>
        <p:nvSpPr>
          <p:cNvPr id="6" name="texto-611"/>
          <p:cNvSpPr txBox="1"/>
          <p:nvPr/>
        </p:nvSpPr>
        <p:spPr>
          <a:xfrm>
            <a:off x="768096" y="2075688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Puede equivocarse</a:t>
            </a:r>
            <a:endParaRPr lang="en-US" sz="1900" dirty="0"/>
          </a:p>
        </p:txBody>
      </p:sp>
      <p:sp>
        <p:nvSpPr>
          <p:cNvPr id="7" name="texto-612"/>
          <p:cNvSpPr txBox="1"/>
          <p:nvPr/>
        </p:nvSpPr>
        <p:spPr>
          <a:xfrm>
            <a:off x="768096" y="2523744"/>
            <a:ext cx="310682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Cada vez menos, pero se hacen catas. «Claude puede cometer errores… ¿y tu compañero de trabajo no?». «Esto no toma las decisiones por ti».</a:t>
            </a:r>
            <a:endParaRPr lang="en-US" sz="1600" dirty="0"/>
          </a:p>
        </p:txBody>
      </p:sp>
      <p:sp>
        <p:nvSpPr>
          <p:cNvPr id="8" name="caja-613"/>
          <p:cNvSpPr/>
          <p:nvPr/>
        </p:nvSpPr>
        <p:spPr>
          <a:xfrm>
            <a:off x="4322978" y="1600200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/>
        </p:spPr>
      </p:sp>
      <p:sp>
        <p:nvSpPr>
          <p:cNvPr id="9" name="texto-614"/>
          <p:cNvSpPr txBox="1"/>
          <p:nvPr/>
        </p:nvSpPr>
        <p:spPr>
          <a:xfrm>
            <a:off x="4542434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RGPD</a:t>
            </a:r>
            <a:endParaRPr lang="en-US" sz="1050" dirty="0"/>
          </a:p>
        </p:txBody>
      </p:sp>
      <p:sp>
        <p:nvSpPr>
          <p:cNvPr id="10" name="texto-615"/>
          <p:cNvSpPr txBox="1"/>
          <p:nvPr/>
        </p:nvSpPr>
        <p:spPr>
          <a:xfrm>
            <a:off x="4542434" y="2075688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Datos de personas</a:t>
            </a:r>
            <a:endParaRPr lang="en-US" sz="1900" dirty="0"/>
          </a:p>
        </p:txBody>
      </p:sp>
      <p:sp>
        <p:nvSpPr>
          <p:cNvPr id="11" name="texto-616"/>
          <p:cNvSpPr txBox="1"/>
          <p:nvPr/>
        </p:nvSpPr>
        <p:spPr>
          <a:xfrm>
            <a:off x="4542434" y="2523744"/>
            <a:ext cx="310682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DNI, currículos, Seguridad Social, salarios o teléfonos: aunque la app sea solo tuya, necesita base legal y cuidado.</a:t>
            </a:r>
            <a:endParaRPr lang="en-US" sz="1600" dirty="0"/>
          </a:p>
        </p:txBody>
      </p:sp>
      <p:sp>
        <p:nvSpPr>
          <p:cNvPr id="12" name="caja-617"/>
          <p:cNvSpPr/>
          <p:nvPr/>
        </p:nvSpPr>
        <p:spPr>
          <a:xfrm>
            <a:off x="8097317" y="1600200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/>
        </p:spPr>
      </p:sp>
      <p:sp>
        <p:nvSpPr>
          <p:cNvPr id="13" name="texto-618"/>
          <p:cNvSpPr txBox="1"/>
          <p:nvPr/>
        </p:nvSpPr>
        <p:spPr>
          <a:xfrm>
            <a:off x="8316773" y="18196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PRUEBAS</a:t>
            </a:r>
            <a:endParaRPr lang="en-US" sz="1050" dirty="0"/>
          </a:p>
        </p:txBody>
      </p:sp>
      <p:sp>
        <p:nvSpPr>
          <p:cNvPr id="14" name="texto-619"/>
          <p:cNvSpPr txBox="1"/>
          <p:nvPr/>
        </p:nvSpPr>
        <p:spPr>
          <a:xfrm>
            <a:off x="8316773" y="2075688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Equipo personal</a:t>
            </a:r>
            <a:endParaRPr lang="en-US" sz="1900" dirty="0"/>
          </a:p>
        </p:txBody>
      </p:sp>
      <p:sp>
        <p:nvSpPr>
          <p:cNvPr id="15" name="texto-620"/>
          <p:cNvSpPr txBox="1"/>
          <p:nvPr/>
        </p:nvSpPr>
        <p:spPr>
          <a:xfrm>
            <a:off x="8316773" y="2523744"/>
            <a:ext cx="310682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Probar en casa está bien, pero «no utilices documentos de la compañía».</a:t>
            </a:r>
            <a:endParaRPr lang="en-US" sz="1600" dirty="0"/>
          </a:p>
        </p:txBody>
      </p:sp>
      <p:sp>
        <p:nvSpPr>
          <p:cNvPr id="16" name="caja-621"/>
          <p:cNvSpPr/>
          <p:nvPr/>
        </p:nvSpPr>
        <p:spPr>
          <a:xfrm>
            <a:off x="548640" y="4000500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/>
        </p:spPr>
      </p:sp>
      <p:sp>
        <p:nvSpPr>
          <p:cNvPr id="17" name="texto-622"/>
          <p:cNvSpPr txBox="1"/>
          <p:nvPr/>
        </p:nvSpPr>
        <p:spPr>
          <a:xfrm>
            <a:off x="768096" y="42199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LEGAL</a:t>
            </a:r>
            <a:endParaRPr lang="en-US" sz="1050" dirty="0"/>
          </a:p>
        </p:txBody>
      </p:sp>
      <p:sp>
        <p:nvSpPr>
          <p:cNvPr id="18" name="texto-623"/>
          <p:cNvSpPr txBox="1"/>
          <p:nvPr/>
        </p:nvSpPr>
        <p:spPr>
          <a:xfrm>
            <a:off x="768096" y="4475988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Licencias</a:t>
            </a:r>
            <a:endParaRPr lang="en-US" sz="1900" dirty="0"/>
          </a:p>
        </p:txBody>
      </p:sp>
      <p:sp>
        <p:nvSpPr>
          <p:cNvPr id="19" name="texto-624"/>
          <p:cNvSpPr txBox="1"/>
          <p:nvPr/>
        </p:nvSpPr>
        <p:spPr>
          <a:xfrm>
            <a:off x="768096" y="4924044"/>
            <a:ext cx="310682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Una cuenta por persona, como dicen las condiciones de cada servicio.</a:t>
            </a:r>
            <a:endParaRPr lang="en-US" sz="1600" dirty="0"/>
          </a:p>
        </p:txBody>
      </p:sp>
      <p:sp>
        <p:nvSpPr>
          <p:cNvPr id="20" name="caja-625"/>
          <p:cNvSpPr/>
          <p:nvPr/>
        </p:nvSpPr>
        <p:spPr>
          <a:xfrm>
            <a:off x="4322978" y="4000500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/>
        </p:spPr>
      </p:sp>
      <p:sp>
        <p:nvSpPr>
          <p:cNvPr id="21" name="texto-626"/>
          <p:cNvSpPr txBox="1"/>
          <p:nvPr/>
        </p:nvSpPr>
        <p:spPr>
          <a:xfrm>
            <a:off x="4542434" y="42199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LEGAL</a:t>
            </a:r>
            <a:endParaRPr lang="en-US" sz="1050" dirty="0"/>
          </a:p>
        </p:txBody>
      </p:sp>
      <p:sp>
        <p:nvSpPr>
          <p:cNvPr id="22" name="texto-627"/>
          <p:cNvSpPr txBox="1"/>
          <p:nvPr/>
        </p:nvSpPr>
        <p:spPr>
          <a:xfrm>
            <a:off x="4542434" y="4475988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Webs y contenidos ajenos</a:t>
            </a:r>
            <a:endParaRPr lang="en-US" sz="1900" dirty="0"/>
          </a:p>
        </p:txBody>
      </p:sp>
      <p:sp>
        <p:nvSpPr>
          <p:cNvPr id="23" name="texto-628"/>
          <p:cNvSpPr txBox="1"/>
          <p:nvPr/>
        </p:nvSpPr>
        <p:spPr>
          <a:xfrm>
            <a:off x="4542434" y="4924044"/>
            <a:ext cx="310682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Respeta las condiciones de uso, sin saltarte captchas ni bloqueos, y los derechos de imágenes y vídeos.</a:t>
            </a:r>
            <a:endParaRPr lang="en-US" sz="1600" dirty="0"/>
          </a:p>
        </p:txBody>
      </p:sp>
      <p:sp>
        <p:nvSpPr>
          <p:cNvPr id="24" name="caja-629"/>
          <p:cNvSpPr/>
          <p:nvPr/>
        </p:nvSpPr>
        <p:spPr>
          <a:xfrm>
            <a:off x="8097317" y="4000500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/>
        </p:spPr>
      </p:sp>
      <p:sp>
        <p:nvSpPr>
          <p:cNvPr id="25" name="texto-630"/>
          <p:cNvSpPr txBox="1"/>
          <p:nvPr/>
        </p:nvSpPr>
        <p:spPr>
          <a:xfrm>
            <a:off x="8316773" y="4219956"/>
            <a:ext cx="3106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PERSONAS</a:t>
            </a:r>
            <a:endParaRPr lang="en-US" sz="1050" dirty="0"/>
          </a:p>
        </p:txBody>
      </p:sp>
      <p:sp>
        <p:nvSpPr>
          <p:cNvPr id="26" name="texto-631"/>
          <p:cNvSpPr txBox="1"/>
          <p:nvPr/>
        </p:nvSpPr>
        <p:spPr>
          <a:xfrm>
            <a:off x="8316773" y="4475988"/>
            <a:ext cx="3106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Trabajar más horas</a:t>
            </a:r>
            <a:endParaRPr lang="en-US" sz="1900" dirty="0"/>
          </a:p>
        </p:txBody>
      </p:sp>
      <p:sp>
        <p:nvSpPr>
          <p:cNvPr id="27" name="texto-632"/>
          <p:cNvSpPr txBox="1"/>
          <p:nvPr/>
        </p:nvSpPr>
        <p:spPr>
          <a:xfrm>
            <a:off x="8316773" y="4924044"/>
            <a:ext cx="310682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«Acabas trabajando el fin de semana». Productivo por 3, sí, pero con límites.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11 · SEGURIDAD, COSTES Y LO QUE VIENE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Hacia dónde va</a:t>
            </a:r>
            <a:endParaRPr lang="en-US" sz="3200" dirty="0"/>
          </a:p>
        </p:txBody>
      </p:sp>
      <p:sp>
        <p:nvSpPr>
          <p:cNvPr id="4" name="linea-futuro"/>
          <p:cNvSpPr/>
          <p:nvPr/>
        </p:nvSpPr>
        <p:spPr>
          <a:xfrm>
            <a:off x="2397709" y="2240280"/>
            <a:ext cx="7396277" cy="0"/>
          </a:xfrm>
          <a:prstGeom prst="line">
            <a:avLst/>
          </a:prstGeom>
          <a:noFill/>
          <a:ln w="25400">
            <a:solidFill>
              <a:srgbClr val="004A98"/>
            </a:solidFill>
            <a:prstDash val="solid"/>
          </a:ln>
        </p:spPr>
      </p:sp>
      <p:sp>
        <p:nvSpPr>
          <p:cNvPr id="5" name="texto-633"/>
          <p:cNvSpPr txBox="1"/>
          <p:nvPr/>
        </p:nvSpPr>
        <p:spPr>
          <a:xfrm>
            <a:off x="548640" y="1600200"/>
            <a:ext cx="369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Hace 3 años</a:t>
            </a:r>
            <a:endParaRPr lang="en-US" sz="1500" dirty="0"/>
          </a:p>
        </p:txBody>
      </p:sp>
      <p:sp>
        <p:nvSpPr>
          <p:cNvPr id="6" name="hito-634"/>
          <p:cNvSpPr/>
          <p:nvPr/>
        </p:nvSpPr>
        <p:spPr>
          <a:xfrm>
            <a:off x="2242261" y="208483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o-635"/>
          <p:cNvSpPr txBox="1"/>
          <p:nvPr/>
        </p:nvSpPr>
        <p:spPr>
          <a:xfrm>
            <a:off x="731520" y="2560320"/>
            <a:ext cx="33323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Tareas de 5 minutos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Redactar un correo.</a:t>
            </a:r>
            <a:endParaRPr lang="en-US" sz="1400" dirty="0"/>
          </a:p>
        </p:txBody>
      </p:sp>
      <p:sp>
        <p:nvSpPr>
          <p:cNvPr id="8" name="texto-636"/>
          <p:cNvSpPr txBox="1"/>
          <p:nvPr/>
        </p:nvSpPr>
        <p:spPr>
          <a:xfrm>
            <a:off x="4246778" y="1600200"/>
            <a:ext cx="369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Hoy</a:t>
            </a:r>
            <a:endParaRPr lang="en-US" sz="1500" dirty="0"/>
          </a:p>
        </p:txBody>
      </p:sp>
      <p:sp>
        <p:nvSpPr>
          <p:cNvPr id="9" name="hito-637"/>
          <p:cNvSpPr/>
          <p:nvPr/>
        </p:nvSpPr>
        <p:spPr>
          <a:xfrm>
            <a:off x="5940400" y="208483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o-638"/>
          <p:cNvSpPr txBox="1"/>
          <p:nvPr/>
        </p:nvSpPr>
        <p:spPr>
          <a:xfrm>
            <a:off x="4429658" y="2560320"/>
            <a:ext cx="33323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Tareas de una semana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Coge 25 documentos de tu empresa y te crea un PowerPoint.</a:t>
            </a:r>
            <a:endParaRPr lang="en-US" sz="1400" dirty="0"/>
          </a:p>
        </p:txBody>
      </p:sp>
      <p:sp>
        <p:nvSpPr>
          <p:cNvPr id="11" name="texto-639"/>
          <p:cNvSpPr txBox="1"/>
          <p:nvPr/>
        </p:nvSpPr>
        <p:spPr>
          <a:xfrm>
            <a:off x="7944917" y="1600200"/>
            <a:ext cx="369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2027</a:t>
            </a:r>
            <a:endParaRPr lang="en-US" sz="1500" dirty="0"/>
          </a:p>
        </p:txBody>
      </p:sp>
      <p:sp>
        <p:nvSpPr>
          <p:cNvPr id="12" name="hito-640"/>
          <p:cNvSpPr/>
          <p:nvPr/>
        </p:nvSpPr>
        <p:spPr>
          <a:xfrm>
            <a:off x="9638538" y="2084832"/>
            <a:ext cx="310896" cy="310896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o-641"/>
          <p:cNvSpPr txBox="1"/>
          <p:nvPr/>
        </p:nvSpPr>
        <p:spPr>
          <a:xfrm>
            <a:off x="8127797" y="2560320"/>
            <a:ext cx="33323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Tareas de meses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«Toda esa exponencialidad converge en 2027».</a:t>
            </a:r>
            <a:endParaRPr lang="en-US" sz="1400" dirty="0"/>
          </a:p>
        </p:txBody>
      </p:sp>
      <p:sp>
        <p:nvSpPr>
          <p:cNvPr id="14" name="caja-642"/>
          <p:cNvSpPr/>
          <p:nvPr/>
        </p:nvSpPr>
        <p:spPr>
          <a:xfrm>
            <a:off x="548640" y="3794760"/>
            <a:ext cx="354573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5" name="texto-643"/>
          <p:cNvSpPr txBox="1"/>
          <p:nvPr/>
        </p:nvSpPr>
        <p:spPr>
          <a:xfrm>
            <a:off x="749808" y="3931920"/>
            <a:ext cx="314340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Cada 3 o 4 meses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Los modelos duplican capacidades en los exámenes que se les hacen (antes, cada seis meses).</a:t>
            </a:r>
            <a:endParaRPr lang="en-US" sz="1400" dirty="0"/>
          </a:p>
        </p:txBody>
      </p:sp>
      <p:sp>
        <p:nvSpPr>
          <p:cNvPr id="16" name="caja-644"/>
          <p:cNvSpPr/>
          <p:nvPr/>
        </p:nvSpPr>
        <p:spPr>
          <a:xfrm>
            <a:off x="4322978" y="3794760"/>
            <a:ext cx="354573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7" name="texto-645"/>
          <p:cNvSpPr txBox="1"/>
          <p:nvPr/>
        </p:nvSpPr>
        <p:spPr>
          <a:xfrm>
            <a:off x="4524146" y="3931920"/>
            <a:ext cx="314340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Menos alucinaciones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Cada modelo nuevo alucina mucho menos que el anterior.</a:t>
            </a:r>
            <a:endParaRPr lang="en-US" sz="1400" dirty="0"/>
          </a:p>
        </p:txBody>
      </p:sp>
      <p:sp>
        <p:nvSpPr>
          <p:cNvPr id="18" name="caja-646"/>
          <p:cNvSpPr/>
          <p:nvPr/>
        </p:nvSpPr>
        <p:spPr>
          <a:xfrm>
            <a:off x="8097317" y="3794760"/>
            <a:ext cx="354573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9" name="texto-647"/>
          <p:cNvSpPr txBox="1"/>
          <p:nvPr/>
        </p:nvSpPr>
        <p:spPr>
          <a:xfrm>
            <a:off x="8298485" y="3931920"/>
            <a:ext cx="314340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El software tradicional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Diseño, edición, formularios… «Claude edita, Claude hace».</a:t>
            </a:r>
            <a:endParaRPr lang="en-US" sz="1400" dirty="0"/>
          </a:p>
        </p:txBody>
      </p:sp>
      <p:sp>
        <p:nvSpPr>
          <p:cNvPr id="20" name="texto-648"/>
          <p:cNvSpPr txBox="1"/>
          <p:nvPr/>
        </p:nvSpPr>
        <p:spPr>
          <a:xfrm>
            <a:off x="548640" y="5212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«O te formas en esto o estás fuera completamente.»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Rubén López</a:t>
            </a:r>
            <a:endParaRPr lang="en-US" sz="1400" dirty="0"/>
          </a:p>
        </p:txBody>
      </p:sp>
      <p:sp>
        <p:nvSpPr>
          <p:cNvPr id="21" name="texto-649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Datos y previsiones dichos en la sesión, sin comprobar.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11 · SEGURIDAD, COSTES Y LO QUE VIENE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Tus deberes</a:t>
            </a:r>
            <a:endParaRPr lang="en-US" sz="3200" dirty="0"/>
          </a:p>
        </p:txBody>
      </p:sp>
      <p:sp>
        <p:nvSpPr>
          <p:cNvPr id="4" name="caja-650"/>
          <p:cNvSpPr/>
          <p:nvPr/>
        </p:nvSpPr>
        <p:spPr>
          <a:xfrm>
            <a:off x="548640" y="1572768"/>
            <a:ext cx="354573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5" name="circulo-651"/>
          <p:cNvSpPr/>
          <p:nvPr/>
        </p:nvSpPr>
        <p:spPr>
          <a:xfrm>
            <a:off x="768096" y="17922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o-652"/>
          <p:cNvSpPr txBox="1"/>
          <p:nvPr/>
        </p:nvSpPr>
        <p:spPr>
          <a:xfrm>
            <a:off x="768096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-653"/>
          <p:cNvSpPr txBox="1"/>
          <p:nvPr/>
        </p:nvSpPr>
        <p:spPr>
          <a:xfrm>
            <a:off x="1325880" y="1792224"/>
            <a:ext cx="2585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</a:t>
            </a:r>
            <a:endParaRPr lang="en-US" sz="1700" dirty="0"/>
          </a:p>
        </p:txBody>
      </p:sp>
      <p:sp>
        <p:nvSpPr>
          <p:cNvPr id="8" name="texto-654"/>
          <p:cNvSpPr txBox="1"/>
          <p:nvPr/>
        </p:nvSpPr>
        <p:spPr>
          <a:xfrm>
            <a:off x="768096" y="2322576"/>
            <a:ext cx="310682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La app de escritorio de Claude (para Cowork), la extensión de Chrome, Python y Git. Si te animas, Claude Code.</a:t>
            </a:r>
            <a:endParaRPr lang="en-US" sz="1450" dirty="0"/>
          </a:p>
        </p:txBody>
      </p:sp>
      <p:sp>
        <p:nvSpPr>
          <p:cNvPr id="9" name="caja-655"/>
          <p:cNvSpPr/>
          <p:nvPr/>
        </p:nvSpPr>
        <p:spPr>
          <a:xfrm>
            <a:off x="4322978" y="1572768"/>
            <a:ext cx="354573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circulo-656"/>
          <p:cNvSpPr/>
          <p:nvPr/>
        </p:nvSpPr>
        <p:spPr>
          <a:xfrm>
            <a:off x="4542434" y="17922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o-657"/>
          <p:cNvSpPr txBox="1"/>
          <p:nvPr/>
        </p:nvSpPr>
        <p:spPr>
          <a:xfrm>
            <a:off x="4542434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o-658"/>
          <p:cNvSpPr txBox="1"/>
          <p:nvPr/>
        </p:nvSpPr>
        <p:spPr>
          <a:xfrm>
            <a:off x="5100218" y="1792224"/>
            <a:ext cx="2585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Conecta</a:t>
            </a:r>
            <a:endParaRPr lang="en-US" sz="1700" dirty="0"/>
          </a:p>
        </p:txBody>
      </p:sp>
      <p:sp>
        <p:nvSpPr>
          <p:cNvPr id="13" name="texto-659"/>
          <p:cNvSpPr txBox="1"/>
          <p:nvPr/>
        </p:nvSpPr>
        <p:spPr>
          <a:xfrm>
            <a:off x="4542434" y="2322576"/>
            <a:ext cx="310682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Tu correo, tu calendario y lo que uses a diario.</a:t>
            </a:r>
            <a:endParaRPr lang="en-US" sz="1450" dirty="0"/>
          </a:p>
        </p:txBody>
      </p:sp>
      <p:sp>
        <p:nvSpPr>
          <p:cNvPr id="14" name="caja-660"/>
          <p:cNvSpPr/>
          <p:nvPr/>
        </p:nvSpPr>
        <p:spPr>
          <a:xfrm>
            <a:off x="8097317" y="1572768"/>
            <a:ext cx="354573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5" name="circulo-661"/>
          <p:cNvSpPr/>
          <p:nvPr/>
        </p:nvSpPr>
        <p:spPr>
          <a:xfrm>
            <a:off x="8316773" y="17922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o-662"/>
          <p:cNvSpPr txBox="1"/>
          <p:nvPr/>
        </p:nvSpPr>
        <p:spPr>
          <a:xfrm>
            <a:off x="8316773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o-663"/>
          <p:cNvSpPr txBox="1"/>
          <p:nvPr/>
        </p:nvSpPr>
        <p:spPr>
          <a:xfrm>
            <a:off x="8874557" y="1792224"/>
            <a:ext cx="2585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Ordena tu correo</a:t>
            </a:r>
            <a:endParaRPr lang="en-US" sz="1700" dirty="0"/>
          </a:p>
        </p:txBody>
      </p:sp>
      <p:sp>
        <p:nvSpPr>
          <p:cNvPr id="18" name="texto-664"/>
          <p:cNvSpPr txBox="1"/>
          <p:nvPr/>
        </p:nvSpPr>
        <p:spPr>
          <a:xfrm>
            <a:off x="8316773" y="2322576"/>
            <a:ext cx="310682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Pide una estructura de etiquetas, crea una skill de respuesta y revisa lo pendiente de los últimos 15 días, todo a borrador.</a:t>
            </a:r>
            <a:endParaRPr lang="en-US" sz="1450" dirty="0"/>
          </a:p>
        </p:txBody>
      </p:sp>
      <p:sp>
        <p:nvSpPr>
          <p:cNvPr id="19" name="caja-665"/>
          <p:cNvSpPr/>
          <p:nvPr/>
        </p:nvSpPr>
        <p:spPr>
          <a:xfrm>
            <a:off x="548640" y="3630168"/>
            <a:ext cx="354573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0" name="circulo-666"/>
          <p:cNvSpPr/>
          <p:nvPr/>
        </p:nvSpPr>
        <p:spPr>
          <a:xfrm>
            <a:off x="768096" y="38496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o-667"/>
          <p:cNvSpPr txBox="1"/>
          <p:nvPr/>
        </p:nvSpPr>
        <p:spPr>
          <a:xfrm>
            <a:off x="768096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o-668"/>
          <p:cNvSpPr txBox="1"/>
          <p:nvPr/>
        </p:nvSpPr>
        <p:spPr>
          <a:xfrm>
            <a:off x="1325880" y="3849624"/>
            <a:ext cx="2585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Haz tus skills</a:t>
            </a:r>
            <a:endParaRPr lang="en-US" sz="1700" dirty="0"/>
          </a:p>
        </p:txBody>
      </p:sp>
      <p:sp>
        <p:nvSpPr>
          <p:cNvPr id="23" name="texto-669"/>
          <p:cNvSpPr txBox="1"/>
          <p:nvPr/>
        </p:nvSpPr>
        <p:spPr>
          <a:xfrm>
            <a:off x="768096" y="4379976"/>
            <a:ext cx="310682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De contexto, de estilo y de índice. Cortas.</a:t>
            </a:r>
            <a:endParaRPr lang="en-US" sz="1450" dirty="0"/>
          </a:p>
        </p:txBody>
      </p:sp>
      <p:sp>
        <p:nvSpPr>
          <p:cNvPr id="24" name="caja-670"/>
          <p:cNvSpPr/>
          <p:nvPr/>
        </p:nvSpPr>
        <p:spPr>
          <a:xfrm>
            <a:off x="4322978" y="3630168"/>
            <a:ext cx="354573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5" name="circulo-671"/>
          <p:cNvSpPr/>
          <p:nvPr/>
        </p:nvSpPr>
        <p:spPr>
          <a:xfrm>
            <a:off x="4542434" y="38496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o-672"/>
          <p:cNvSpPr txBox="1"/>
          <p:nvPr/>
        </p:nvSpPr>
        <p:spPr>
          <a:xfrm>
            <a:off x="4542434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o-673"/>
          <p:cNvSpPr txBox="1"/>
          <p:nvPr/>
        </p:nvSpPr>
        <p:spPr>
          <a:xfrm>
            <a:off x="5100218" y="3849624"/>
            <a:ext cx="2585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Piensa tu caso</a:t>
            </a:r>
            <a:endParaRPr lang="en-US" sz="1700" dirty="0"/>
          </a:p>
        </p:txBody>
      </p:sp>
      <p:sp>
        <p:nvSpPr>
          <p:cNvPr id="28" name="texto-674"/>
          <p:cNvSpPr txBox="1"/>
          <p:nvPr/>
        </p:nvSpPr>
        <p:spPr>
          <a:xfrm>
            <a:off x="4542434" y="4379976"/>
            <a:ext cx="310682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«Dormirlo un par de noches y cada uno pensar cómo se adapta» a su trabajo.</a:t>
            </a:r>
            <a:endParaRPr lang="en-US" sz="1450" dirty="0"/>
          </a:p>
        </p:txBody>
      </p:sp>
      <p:sp>
        <p:nvSpPr>
          <p:cNvPr id="29" name="caja-675"/>
          <p:cNvSpPr/>
          <p:nvPr/>
        </p:nvSpPr>
        <p:spPr>
          <a:xfrm>
            <a:off x="8097317" y="3630168"/>
            <a:ext cx="354573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30" name="circulo-676"/>
          <p:cNvSpPr/>
          <p:nvPr/>
        </p:nvSpPr>
        <p:spPr>
          <a:xfrm>
            <a:off x="8316773" y="38496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o-677"/>
          <p:cNvSpPr txBox="1"/>
          <p:nvPr/>
        </p:nvSpPr>
        <p:spPr>
          <a:xfrm>
            <a:off x="8316773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o-678"/>
          <p:cNvSpPr txBox="1"/>
          <p:nvPr/>
        </p:nvSpPr>
        <p:spPr>
          <a:xfrm>
            <a:off x="8874557" y="3849624"/>
            <a:ext cx="2585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 tu empresa lo limita</a:t>
            </a:r>
            <a:endParaRPr lang="en-US" sz="1700" dirty="0"/>
          </a:p>
        </p:txBody>
      </p:sp>
      <p:sp>
        <p:nvSpPr>
          <p:cNvPr id="33" name="texto-679"/>
          <p:cNvSpPr txBox="1"/>
          <p:nvPr/>
        </p:nvSpPr>
        <p:spPr>
          <a:xfrm>
            <a:off x="8316773" y="4379976"/>
            <a:ext cx="310682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Habla con IT y ciberseguridad con un objetivo claro.</a:t>
            </a:r>
            <a:endParaRPr lang="en-US" sz="1450" dirty="0"/>
          </a:p>
        </p:txBody>
      </p:sp>
      <p:sp>
        <p:nvSpPr>
          <p:cNvPr id="34" name="texto-680"/>
          <p:cNvSpPr txBox="1"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«Preguntadle a Claude, que os va a dar las soluciones.»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Diego Renedo, al cerrar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11 · SEGURIDAD, COSTES Y LO QUE VIENE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Ponte a prueba</a:t>
            </a:r>
            <a:endParaRPr lang="en-US" sz="3200" dirty="0"/>
          </a:p>
        </p:txBody>
      </p:sp>
      <p:sp>
        <p:nvSpPr>
          <p:cNvPr id="4" name="circulo-681"/>
          <p:cNvSpPr/>
          <p:nvPr/>
        </p:nvSpPr>
        <p:spPr>
          <a:xfrm>
            <a:off x="548640" y="16276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texto-682"/>
          <p:cNvSpPr txBox="1"/>
          <p:nvPr/>
        </p:nvSpPr>
        <p:spPr>
          <a:xfrm>
            <a:off x="54864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o-683"/>
          <p:cNvSpPr txBox="1"/>
          <p:nvPr/>
        </p:nvSpPr>
        <p:spPr>
          <a:xfrm>
            <a:off x="1051560" y="16002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¿Qué es un commit?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Un «guardar como» para poder volver atrás</a:t>
            </a:r>
            <a:endParaRPr lang="en-US" sz="1400" dirty="0"/>
          </a:p>
        </p:txBody>
      </p:sp>
      <p:sp>
        <p:nvSpPr>
          <p:cNvPr id="7" name="circulo-684"/>
          <p:cNvSpPr/>
          <p:nvPr/>
        </p:nvSpPr>
        <p:spPr>
          <a:xfrm>
            <a:off x="548640" y="25420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8" name="texto-685"/>
          <p:cNvSpPr txBox="1"/>
          <p:nvPr/>
        </p:nvSpPr>
        <p:spPr>
          <a:xfrm>
            <a:off x="54864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o-686"/>
          <p:cNvSpPr txBox="1"/>
          <p:nvPr/>
        </p:nvSpPr>
        <p:spPr>
          <a:xfrm>
            <a:off x="1051560" y="25146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¿Para qué sirve un MCP?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Es la llave que conecta Claude con otras herramientas</a:t>
            </a:r>
            <a:endParaRPr lang="en-US" sz="1400" dirty="0"/>
          </a:p>
        </p:txBody>
      </p:sp>
      <p:sp>
        <p:nvSpPr>
          <p:cNvPr id="10" name="circulo-687"/>
          <p:cNvSpPr/>
          <p:nvPr/>
        </p:nvSpPr>
        <p:spPr>
          <a:xfrm>
            <a:off x="548640" y="34564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texto-688"/>
          <p:cNvSpPr txBox="1"/>
          <p:nvPr/>
        </p:nvSpPr>
        <p:spPr>
          <a:xfrm>
            <a:off x="54864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texto-689"/>
          <p:cNvSpPr txBox="1"/>
          <p:nvPr/>
        </p:nvSpPr>
        <p:spPr>
          <a:xfrm>
            <a:off x="1051560" y="34290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¿Cuánto debería ocupar una skill?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Unas 2 páginas como mucho, tipo índice</a:t>
            </a:r>
            <a:endParaRPr lang="en-US" sz="1400" dirty="0"/>
          </a:p>
        </p:txBody>
      </p:sp>
      <p:sp>
        <p:nvSpPr>
          <p:cNvPr id="13" name="circulo-690"/>
          <p:cNvSpPr/>
          <p:nvPr/>
        </p:nvSpPr>
        <p:spPr>
          <a:xfrm>
            <a:off x="548640" y="43708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4" name="texto-691"/>
          <p:cNvSpPr txBox="1"/>
          <p:nvPr/>
        </p:nvSpPr>
        <p:spPr>
          <a:xfrm>
            <a:off x="54864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texto-692"/>
          <p:cNvSpPr txBox="1"/>
          <p:nvPr/>
        </p:nvSpPr>
        <p:spPr>
          <a:xfrm>
            <a:off x="1051560" y="43434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¿Qué hace el modo «bypass permissions»?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Pregunta al principio y llega al final sin preguntar</a:t>
            </a:r>
            <a:endParaRPr lang="en-US" sz="1400" dirty="0"/>
          </a:p>
        </p:txBody>
      </p:sp>
      <p:sp>
        <p:nvSpPr>
          <p:cNvPr id="16" name="circulo-693"/>
          <p:cNvSpPr/>
          <p:nvPr/>
        </p:nvSpPr>
        <p:spPr>
          <a:xfrm>
            <a:off x="548640" y="52852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7" name="texto-694"/>
          <p:cNvSpPr txBox="1"/>
          <p:nvPr/>
        </p:nvSpPr>
        <p:spPr>
          <a:xfrm>
            <a:off x="548640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texto-695"/>
          <p:cNvSpPr txBox="1"/>
          <p:nvPr/>
        </p:nvSpPr>
        <p:spPr>
          <a:xfrm>
            <a:off x="1051560" y="52578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¿Qué conviene hacer con las respuestas de correo?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Que se queden primero en borrador</a:t>
            </a:r>
            <a:endParaRPr lang="en-US" sz="1400" dirty="0"/>
          </a:p>
        </p:txBody>
      </p:sp>
      <p:sp>
        <p:nvSpPr>
          <p:cNvPr id="19" name="circulo-696"/>
          <p:cNvSpPr/>
          <p:nvPr/>
        </p:nvSpPr>
        <p:spPr>
          <a:xfrm>
            <a:off x="6263640" y="16276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0" name="texto-697"/>
          <p:cNvSpPr txBox="1"/>
          <p:nvPr/>
        </p:nvSpPr>
        <p:spPr>
          <a:xfrm>
            <a:off x="626364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6</a:t>
            </a:r>
            <a:endParaRPr lang="en-US" sz="1100" dirty="0"/>
          </a:p>
        </p:txBody>
      </p:sp>
      <p:sp>
        <p:nvSpPr>
          <p:cNvPr id="21" name="texto-698"/>
          <p:cNvSpPr txBox="1"/>
          <p:nvPr/>
        </p:nvSpPr>
        <p:spPr>
          <a:xfrm>
            <a:off x="6766560" y="16002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¿Qué hace Claude si le das una contraseña?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No la acepta y te pide que la cambies</a:t>
            </a:r>
            <a:endParaRPr lang="en-US" sz="1400" dirty="0"/>
          </a:p>
        </p:txBody>
      </p:sp>
      <p:sp>
        <p:nvSpPr>
          <p:cNvPr id="22" name="circulo-699"/>
          <p:cNvSpPr/>
          <p:nvPr/>
        </p:nvSpPr>
        <p:spPr>
          <a:xfrm>
            <a:off x="6263640" y="25420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3" name="texto-700"/>
          <p:cNvSpPr txBox="1"/>
          <p:nvPr/>
        </p:nvSpPr>
        <p:spPr>
          <a:xfrm>
            <a:off x="626364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7</a:t>
            </a:r>
            <a:endParaRPr lang="en-US" sz="1100" dirty="0"/>
          </a:p>
        </p:txBody>
      </p:sp>
      <p:sp>
        <p:nvSpPr>
          <p:cNvPr id="24" name="texto-701"/>
          <p:cNvSpPr txBox="1"/>
          <p:nvPr/>
        </p:nvSpPr>
        <p:spPr>
          <a:xfrm>
            <a:off x="6766560" y="25146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Además del objetivo, ¿qué conviene darle?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La fuente, o pedirle las mejores fuentes</a:t>
            </a:r>
            <a:endParaRPr lang="en-US" sz="1400" dirty="0"/>
          </a:p>
        </p:txBody>
      </p:sp>
      <p:sp>
        <p:nvSpPr>
          <p:cNvPr id="25" name="circulo-702"/>
          <p:cNvSpPr/>
          <p:nvPr/>
        </p:nvSpPr>
        <p:spPr>
          <a:xfrm>
            <a:off x="6263640" y="34564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6" name="texto-703"/>
          <p:cNvSpPr txBox="1"/>
          <p:nvPr/>
        </p:nvSpPr>
        <p:spPr>
          <a:xfrm>
            <a:off x="626364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8</a:t>
            </a:r>
            <a:endParaRPr lang="en-US" sz="1100" dirty="0"/>
          </a:p>
        </p:txBody>
      </p:sp>
      <p:sp>
        <p:nvSpPr>
          <p:cNvPr id="27" name="texto-704"/>
          <p:cNvSpPr txBox="1"/>
          <p:nvPr/>
        </p:nvSpPr>
        <p:spPr>
          <a:xfrm>
            <a:off x="6766560" y="34290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¿Cómo entra la extensión de Chrome en tus aplicaciones?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Con tu sesión ya iniciada en Chrome</a:t>
            </a:r>
            <a:endParaRPr lang="en-US" sz="1400" dirty="0"/>
          </a:p>
        </p:txBody>
      </p:sp>
      <p:sp>
        <p:nvSpPr>
          <p:cNvPr id="28" name="circulo-705"/>
          <p:cNvSpPr/>
          <p:nvPr/>
        </p:nvSpPr>
        <p:spPr>
          <a:xfrm>
            <a:off x="6263640" y="43708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9" name="texto-706"/>
          <p:cNvSpPr txBox="1"/>
          <p:nvPr/>
        </p:nvSpPr>
        <p:spPr>
          <a:xfrm>
            <a:off x="626364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9</a:t>
            </a:r>
            <a:endParaRPr lang="en-US" sz="1100" dirty="0"/>
          </a:p>
        </p:txBody>
      </p:sp>
      <p:sp>
        <p:nvSpPr>
          <p:cNvPr id="30" name="texto-707"/>
          <p:cNvSpPr txBox="1"/>
          <p:nvPr/>
        </p:nvSpPr>
        <p:spPr>
          <a:xfrm>
            <a:off x="6766560" y="43434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Si no le dices el formato, ¿qué tiende a darte?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HTML</a:t>
            </a:r>
            <a:endParaRPr lang="en-US" sz="1400" dirty="0"/>
          </a:p>
        </p:txBody>
      </p:sp>
      <p:sp>
        <p:nvSpPr>
          <p:cNvPr id="31" name="circulo-708"/>
          <p:cNvSpPr/>
          <p:nvPr/>
        </p:nvSpPr>
        <p:spPr>
          <a:xfrm>
            <a:off x="6263640" y="5285232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2" name="texto-709"/>
          <p:cNvSpPr txBox="1"/>
          <p:nvPr/>
        </p:nvSpPr>
        <p:spPr>
          <a:xfrm>
            <a:off x="6263640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10</a:t>
            </a:r>
            <a:endParaRPr lang="en-US" sz="1100" dirty="0"/>
          </a:p>
        </p:txBody>
      </p:sp>
      <p:sp>
        <p:nvSpPr>
          <p:cNvPr id="33" name="texto-710"/>
          <p:cNvSpPr txBox="1"/>
          <p:nvPr/>
        </p:nvSpPr>
        <p:spPr>
          <a:xfrm>
            <a:off x="6766560" y="52578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50" b="1" dirty="0">
                <a:solidFill>
                  <a:schemeClr val="tx1"/>
                </a:solidFill>
              </a:rPr>
              <a:t>¿Qué plan se recomendó para trabajar sin miedo?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chemeClr val="accent1"/>
                </a:solidFill>
              </a:rPr>
              <a:t>→ El de 100 €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4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711"/>
          <p:cNvSpPr txBox="1"/>
          <p:nvPr/>
        </p:nvSpPr>
        <p:spPr>
          <a:xfrm>
            <a:off x="822960" y="10058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«La solución tiene la solución a su uso»</a:t>
            </a:r>
            <a:endParaRPr lang="en-US" sz="4400" dirty="0"/>
          </a:p>
        </p:txBody>
      </p:sp>
      <p:sp>
        <p:nvSpPr>
          <p:cNvPr id="3" name="texto-712"/>
          <p:cNvSpPr txBox="1"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Si no sabes cómo hacer algo con Claude, pregúntaselo a Claude.</a:t>
            </a:r>
            <a:endParaRPr lang="en-US" sz="2000" dirty="0"/>
          </a:p>
        </p:txBody>
      </p:sp>
      <p:sp>
        <p:nvSpPr>
          <p:cNvPr id="4" name="caja-713"/>
          <p:cNvSpPr/>
          <p:nvPr/>
        </p:nvSpPr>
        <p:spPr>
          <a:xfrm>
            <a:off x="822960" y="3657600"/>
            <a:ext cx="6766560" cy="1188720"/>
          </a:xfrm>
          <a:prstGeom prst="roundRect">
            <a:avLst>
              <a:gd name="adj" fmla="val 9231"/>
            </a:avLst>
          </a:prstGeom>
          <a:solidFill>
            <a:srgbClr val="0B5AAE"/>
          </a:solidFill>
          <a:ln/>
        </p:spPr>
      </p:sp>
      <p:sp>
        <p:nvSpPr>
          <p:cNvPr id="5" name="texto-714"/>
          <p:cNvSpPr txBox="1"/>
          <p:nvPr/>
        </p:nvSpPr>
        <p:spPr>
          <a:xfrm>
            <a:off x="1097280" y="37947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LA VERSIÓN WEB, SECCIÓN A SECCIÓN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rubeniarey.github.io/formacion-claude/</a:t>
            </a:r>
            <a:endParaRPr lang="en-US" sz="1400" dirty="0"/>
          </a:p>
        </p:txBody>
      </p:sp>
      <p:sp>
        <p:nvSpPr>
          <p:cNvPr id="6" name="caja-715"/>
          <p:cNvSpPr/>
          <p:nvPr/>
        </p:nvSpPr>
        <p:spPr>
          <a:xfrm>
            <a:off x="822960" y="5166360"/>
            <a:ext cx="676656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pic>
        <p:nvPicPr>
          <p:cNvPr id="7" name="cierre-logo-aurgi" descr="aurg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5413248"/>
            <a:ext cx="864973" cy="274320"/>
          </a:xfrm>
          <a:prstGeom prst="rect">
            <a:avLst/>
          </a:prstGeom>
        </p:spPr>
      </p:pic>
      <p:pic>
        <p:nvPicPr>
          <p:cNvPr id="8" name="cierre-logo-reynasa" descr="reynas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725" y="5404104"/>
            <a:ext cx="1175657" cy="292608"/>
          </a:xfrm>
          <a:prstGeom prst="rect">
            <a:avLst/>
          </a:prstGeom>
        </p:spPr>
      </p:pic>
      <p:pic>
        <p:nvPicPr>
          <p:cNvPr id="9" name="cierre-logo-mutua" descr="mutu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2854" y="5445252"/>
            <a:ext cx="1278924" cy="210312"/>
          </a:xfrm>
          <a:prstGeom prst="rect">
            <a:avLst/>
          </a:prstGeom>
        </p:spPr>
      </p:pic>
      <p:pic>
        <p:nvPicPr>
          <p:cNvPr id="10" name="cierre-logo-claude" descr="clau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9250" y="5413248"/>
            <a:ext cx="1255059" cy="274320"/>
          </a:xfrm>
          <a:prstGeom prst="rect">
            <a:avLst/>
          </a:prstGeom>
        </p:spPr>
      </p:pic>
      <p:sp>
        <p:nvSpPr>
          <p:cNvPr id="11" name="texto-716"/>
          <p:cNvSpPr txBox="1"/>
          <p:nvPr/>
        </p:nvSpPr>
        <p:spPr>
          <a:xfrm>
            <a:off x="8001000" y="365760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Formación Claude · 20 de octubre de 2026 · Diego Renedo (Aurgi) y Rubén López (Reynasa). Resumen preparado por Reynasa a partir de la grabación de la sesión, sin nombres de asistentes ni datos internos. Claude y Anthropic son marcas de Anthropic; esta presentación no es un material oficial de Anthropic.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macion Claude Reynasa">
  <a:themeElements>
    <a:clrScheme name="Formacion Claude Reynasa">
      <a:dk1>
        <a:srgbClr val="15171C"/>
      </a:dk1>
      <a:lt1>
        <a:srgbClr val="FFFFFF"/>
      </a:lt1>
      <a:dk2>
        <a:srgbClr val="004A98"/>
      </a:dk2>
      <a:lt2>
        <a:srgbClr val="F3F5F8"/>
      </a:lt2>
      <a:accent1>
        <a:srgbClr val="004A98"/>
      </a:accent1>
      <a:accent2>
        <a:srgbClr val="CE0E2D"/>
      </a:accent2>
      <a:accent3>
        <a:srgbClr val="FFA400"/>
      </a:accent3>
      <a:accent4>
        <a:srgbClr val="D97757"/>
      </a:accent4>
      <a:accent5>
        <a:srgbClr val="4A5466"/>
      </a:accent5>
      <a:accent6>
        <a:srgbClr val="E8EFF8"/>
      </a:accent6>
      <a:hlink>
        <a:srgbClr val="004A98"/>
      </a:hlink>
      <a:folHlink>
        <a:srgbClr val="4A5466"/>
      </a:folHlink>
    </a:clrScheme>
    <a:fontScheme name="Formacion Claude Reynas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Reynasa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Formación Claude · Reynasa × Aurgi × Grupo Mutua</dc:title>
  <dc:subject>PptxGenJS Presentation</dc:subject>
  <dc:creator>Rubén López (Reynasa)</dc:creator>
  <cp:lastModifiedBy>Rubén López (Reynasa)</cp:lastModifiedBy>
  <cp:revision>1</cp:revision>
  <dcterms:created xsi:type="dcterms:W3CDTF">2026-10-21T09:28:39Z</dcterms:created>
  <dcterms:modified xsi:type="dcterms:W3CDTF">2026-10-21T09:28:39Z</dcterms:modified>
</cp:coreProperties>
</file>